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REC HTLICHER TEIL {{PROJEKT_TYP}} -PROSPEKTTEIL B</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 Das Angebot im Überblick ■ Vor- und Nachteile bei wohnwirtschaftlichen Liegenschaften ■ Konzeptionelle Gestaltung ■ Vertragsmuster &amp; Anlagen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 Inhalt Das Angebot im Überblick 04 Vor- und Nachteile bei wohnwirtschaftlichen Liegenschaften 07 Konzeptionelle Gestaltung 33 Steuerliche Gestaltung und Haftungsausschlüsse 55 Wohnungskauf- und Werkvertrag 70 Teilungserklärung 103 Entwurf Vorlage SE-Verwaltung 308 Entwurf Vorlage WEG Verwaltung 315</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 Das Angebot im Überblick Objekt „{{PROJEKT_TYP}}“ – {{PROJEKT_ADRESSE}}, {{PROJEKT_PLZ_STADT}}, Stand {{PROSPEKT_DATUM}} Inhalt dieses Prospektes ist ein Angebot der {{ENTWICKLER_NAME}} (geschäftsansässig: {{ENTWICKLER_ADRESSE}}) als Verkäuferin und Prospektherausgeberin, für die Neuerrichtung eines Mehrfamilienhauses auf dem Gelände der {{PROJEKT_AREAL}}, {{PROJEKT_ADRESSE}}, {{PROJEKT_PLZ_STADT}} zum Erwerb von insgesamt {{ANZAHL_WE}} Eigentumswohnungen. Die Fertigstellung der Wohnungen ist bis zum {{FERTIG_GEPLANT}} geplant, verbindlicher Fertigstellungstermin der Wohnungen ist der {{FERTIG_VERBINDLICH}} und auch das Gemeinschaftseigentum wird bis zum {{FERTIG_VERBINDLICH}} fertiggestellt. Alle Wohnungen im Erdgeschoss auf der Ostseite verfügen über Terrassen mit dazugehörigen Gartenanteilen. Die Wohnungen im Erdgeschoss auf der Westseite und in den Obergeschossen verfügen über Balkone. Optional besteht die Möglichkeit, Außenstellplätze auf dem Areal zu erwerben. Zielgruppe des Angebotes sind Investoren, die diese Eigentumswohnungen entweder zum Zweck der dauerhaften Vermietung oder zur perspektivischen Eigennutzung erwerben wollen. Dabei sollte sich der Investor darüber im Klaren sein, dass die im Prospekt aufgezeigten Chancen dann in Betracht kommen, wenn die Eigentumswohnung im Rahmen der individuellen Lebensplanung der Zukunfts- und Altersversorgung dienen soll. Er muss dabei aber berücksichtigen, dass er aufgrund der auch im Prospekt aufgezeigten Risiken willens und wirtschaftlich in der Lage sein muss, selbige auch tragen zu können, insbesondere eventuelle Unterdeckungen zwischen Mieteinnahmen und Fremdfinanzierung durch andere Vermögenswerte auszugleichen. Sollte der Investor hingegen beabsichtigen, durch diesen Ankauf in den Genuss eines Steuerstundungsmodells mit kurzfristigen steuerlichen Verrechnungsmöglichkeiten zu kommen oder eine garantierte Kapitalverzinsung während einer kurzfristig fest vereinbarten Laufzeit und mit einem vorab vereinbarten konkreten Rückzahlungstermin erwarten, so kommt dieses Immobilieninvestment aufgrund seiner im Prospekt erläuterten Risiken nicht in Betracht.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 Liegenschaft Produktpartner: {{ENTWICKLER_NAME}} Prospektherausgeber: {{ENTWICKLER_NAME}} Produkt: Neubau eines Mehrfamilienhauses KfW 40 „Klimafreundlicher Neubau – Wohngebäude“ mit QNG Baujahr: {{BAUJAHR_RANGE}} Anzahl WE: {{ANZAHL_WE}} Wohneinheiten (Mikroapartments) Wohnungsgrößen: ca. {{GROESSE_VON}} m² bis {{GROESSE_BIS}} m² mit 1 bis 2 Räumen Kaufpreis pro WE: von {{KAUFPREIS_VON}} € bis {{KAUFPREIS_BIS}} € Lineare Abschreibung: Lineare AfA gem. § 7 Abs. 4 Satz 1 Nr. 2a EStG 3,0 % linear für die Dauer von 33 Jahren, bezogen auf die Neubausubstanz (Errichtung nach dem 31.12.2022 gemäß JStG 2022); ODER Degressive-AfA: nach aktueller Gesetzeslage wegen der Änderung durch das Wachstumschancengesetz (rückführende Einführung einer degressiven Afa ab 01.10.2023 § 7 Abs. 5a EStG) in Höhe von 5 % der Anschaffungs- oder Herstellungskosten im ersten Jahr und danach 5% des Restwertes. Die Regelung gilt insgesamt für einen Zeitraum von 6 Jahren (Kapitalanleger). IN KOMBINATION MIT Sonder-AfA § 7b EStG: bezogen auf Anschaffung- oder Herstellungskosten bis zu 5% der Bemessungsgrundlage im Jahr der Anschaffung und in den 3 folgenden Jahren KfW-Förderung: Grundlage {{KFW_STUFE}} (QNG-Zertifizierung wurde seitens der Verkäuferin beauftragt) Programm 297 (private Selbstnutzung) bis zu 150.000,00 € mit variablem Zins ab ca. 1,13 % Programm 298 (Kapitalanleger) bis zu 150.000,00 € mit variablem Zins ab ca. 1,13 % (Stand {{PROSPEKT_DATUM}})</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 Erwerbsnebenkosten: ca. 7,50 %, davon ca. 2,5 % für Notar- und Grundbuch/ Registerkosten und 5,0 % Grunderwerbsteuer auf den Kaufpreis Mieterwartung: 18,00 € (netto-kalt)/m² Wohnfläche sowie 2,00 € Miete Möblierung inklusive Küche und 4,00 € Nebenkostenpauschale inklusive Strom, somit 24,00 € Gesamtmiete monatlich ca. 50,00 € monatlich pro Stellplatz Mietnebenkosten: WEG-Verwaltung derzeit mtl. 19,99 € (inkl. MwSt.) SE-Verwaltung derzeit mtl. 19,99 € (inkl. MwSt.) SE-Verwaltung Stellplatz derzeit mtl. 5,95 € (inkl. MwSt.) Instandhaltungsrücklage: anfänglich mtl. 0,30 €/m² WEG-Verwaltung: vorauss. {{VERWALTER_NAME}} SE-Verwaltung: vorauss. {{VERWALTER_NAME}} Angaben zum Grundbuch: Adresse: {{PROJEKT_ADRESSE}} {{PROJEKT_PLZ_STADT}} Amtsgericht: Magdeburg Grundbuch: Magdeburg Blatt: 105721 Flur: 273 Flurstück: 12306, 12308, 12309, 12312, 12313, 12334, 12476, 12493, 12494, 12496 und 12497 Gesamtfläche: ca. 10.312 m² Wohnfläche: 104 Einheiten mit ca. 3.741,58 m²</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 Vor- und Nachteile bei wohnwirtschaftlichen Liegenschaften Objekt „{{PROJEKT_TYP}}“ – {{PROJEKT_ADRESSE}}, {{PROJEKT_PLZ_STADT}}, Stand {{PROSPEKT_DATUM}} Einleitung Aufgrund der durch die Corona Pandemie und im Anschluss durch den Ukraine-Krieg hervorgerufenen Wirtschaftskrise, suchen derzeit viele, durch die jahrelange Niedrigzinspolitik der EZB verunsicherte Anleger nach wirtschaftlich sinnvollen Alternativen. In den Fokus der Betrachtung sind deshalb wieder verstärkt wohnwirtschaftliche Immobilieninvestments gerückt. Eine wohnwirtschaftlich genutzte Immobilie in Deutschland kann, im Vergleich zu anderen Kapitalanlageformen (z. B. Aktien), aufgrund der kontinuierlichen Entwicklung des Immobilienmarktes in Deutschland als wertbeständig und relativ krisensicher eingestuft werden. Über einen längerfristigen Zeitraum betrachtet ist zwar auch der Immobilienmarkt Schwankungen unterworfen, in der Regel steigen aber auch die Preise wieder, so dass eine gute Chance besteht für eine wertbeständige und krisensichere Anlage. Dabei ist auch das positive rechtliche Umfeld zu berücksichtigen, da das Eigentum gerade auch an Immobilien aufgrund der Verankerung in der Verfassung (Art. 14 GG) besonderen Schutz genießt und eine Enteignung grundsätzlich nicht möglich ist. Durch die räumlichen Gegebenheiten in Deutschland ist Grund und Boden und damit auch Bauland insgesamt nicht unbegrenzt verfügbar und somit eine beliebige Neuerrichtung von Immobilien nicht möglich. Dies hat zur Folge, dass die Neubautätigkeit durch das Bauordnungs- und das Bauplanungsrecht gesetzlich limitiert wird. Durch die Wiedereinführung der steuerlichen Förderung für Neubauten im Jahre 2023 (neue AfA für Neubauten nach dem 31.12.2022 und das Förderprogramm „Klimafreundlicher Neubau“ und Wohneigentum für Familien) soll die Entwicklung der Neubautätigkeit in Deutschland angeregt werden, um den heute herrschenden Nachfragemarkt für Mieter und Investoren mit merklichen Miet- und Immobilienwertsteigerungen merklich zu entspannen, ob dies gelingen wird, muss sich aber noch zeigen. Allerdings ist eine unbegrenzte Fortsetzung dieser Entwicklung, insbesondere außerhalb von Ballungsräumen und Zuzugsgebieten, unwahrscheinlich. Vielmehr sind Korrekturbewegungen bei der Kaufpreisgestaltung genauso üblich und zu erwarten, wie massive Eingriffe der Politik in die freie Marktentwicklung der Mietpreise (vgl. aktuell Diskussion zum „Mietendeckel“). Kurz bis mittelfristig kann also der Immobilienmarkt größeren Schwankungen unterworfen sein. Preisverfallrisiken durch massiven Neubau von Immobilien sind im Gegensatz zu den Inflationsrisiken, wie sie aufgrund der aktuellen Wirtschaftslage vorliegen, nicht zu erwarten, so dass unter dem Gesichtspunkt der langfristigen Kapitalanlage eine gute Chance zur Wertsteigerung besteht.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 Im vorliegenden Fall haben wir es mit einer Liegenschaft zu tun, bei der klassische Eigentumswohnungen (Mikroapartments) in den Größen von Ein- bis Zwei-ZimmerWohnungen in einem neu zu errichtenden Mehrfamilienhaus veräußert werden sollen. Allerdings ist auch zu berücksichtigen, dass dieses langfristige Engagement aufgrund seiner Laufzeit das Risiko in sich trägt, dass durch heute noch nicht abzusehende Unwägbarkeiten sich das Risiko von Wertverlusten realisieren könnte. Die Kapitalanlage in wohnwirtschaftlichen Immobilien ist daher wie jede andere Kapitalanlageform auch nicht nur einseitig mit Vorteilen, sondern auch mit möglichen Nachteilen behaftet. Durch die vorliegende Darstellung will die Verkäuferin dem Erwerber diesen Umstand vor Abschluss einer vertraglichen Bindung vor Augen führen und möglichst umfassend über potenzielle Risiken aufklären. Die Vor- und Nachteile eines Immobilieninvestments lassen sich am besten durch die nachfolgend neun Kriterien zur besseren Beurteilung darstellen: 1. Zusammenarbeit mit kompetenten und verlässlichen Geschäftspartnern; 2. Verwendung eines der aktuellen Rechtslage entsprechenden Vertragswerks; 3. Lage der Immobilie in einer guten und nachgefragten Gegend; 4. Zustand der Liegenschaft; 5. Verfolgung eines wirtschaftlich sinnvollen Eigen- oder Fremdnutzungskonzeptes; 6. Einsatz eines kompetenten Immobilienmanagements; 7. langfristige Planung zur Erhaltung des Immobilienwertes durch Pflege-, Erhaltungsund Instandhaltungsmaßnahmen; 8. langfristig durchdachte Finanzierungsstruktur; 9. Steuerliche Rahmenbedingungen bei einer Neubauimmobilie. Allerdings ist immer zu beachten, dass diese Betrachtungen vom Status quo zum Zeitpunkt des Erwerbes ausgehen und zukünftige Entwicklungen und Tendenzen nur im Wege der Prognoseentscheidung mit aufgenommen werden und daher keine zwangsläufige Verbindlichkeit beinhalten. Es darf ferner nicht vergessen werden, dass Chancen und Risiken nicht zwingend immer einzeln auftreten, sondern in der Regel in unterschiedlichen Konstellationen und gegebenenfalls auch kumulativ entstehen. Für den einzelnen Investor kann dies bedeuten, dass durch die Verknüpfung mehrerer Einzelrisiken (z.B. Verschlechterung der persönlichen Einkommensverhältnisse durch Krankheit und/oder Unfall, Mietausfall, größere Modernisierungsmaßnahmen sowie zu hohe Fremdfinanzierung) die Immobilieneinnahme nicht mehr alleine ausreichend ist, die Bedienung von Zins und Tilgung abzudecken und die Unterdeckung dann nicht mehr aus dem Einkommen oder dem Vermögen ausgeglichen werden kann mit der Folge, dass es erst zu einer Liquiditätskrise kommt und im schlimmsten Fall sogar zum persönlichen Vermögensverfall.</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 1. Geschäftspartner Eine finanzielle Transaktion und damit auch eine Immobilieninvestition leben davon, dass sich kompetente und zuverlässige Partner zusammenfinden, um im beiderseitigen Interesse ein bestmögliches Ergebnis zu erzielen. Somit ist die Auswahl des richtigen Partners der Schlüssel für einen erfolgreichen Vertragsabschluss. Erst wenn Verkäufer und Käufer eine gemeinsame, offene und konstruktive Gesprächs– und Verhandlungsgrundlage gefunden haben, besteht das erforderliche Miteinander der Geschäftspartner. Verkäuferin und verantwortliche Prospektherausgeberin ist im vorliegenden Fall die {{ENTWICKLER_NAME}}, {{ENTWICKLER_ADRESSE}}. Die Verkäuferin hat das Alleineigentum an dem Grundstück, auf welchem der Neubau von Mikroapartments errichtet werden wird, in der {{PROJEKT_ADRESSE}}, {{PROJEKT_PLZ_STADT}} erworben. Die Verkäuferin verfügt für die Durchführung der prospektierten Baumaßnahme über eine ausreichende Bauträgerfinanzierung. Von daher kann der Käufer grundsätzlich von der erforderlichen Leistungsfähigkeit der Verkäuferin ausgehen. Es ist geplant mit der Verwaltung des Projektes die Firma {{VERWALTER_NAME}} (geschäftsansässig: {{VERWALTER_STRASSE}}, 39104 Magdeburg) oder eine ebenfalls erfahrene Hausverwaltung zu gleichen Konditionen zu beauftragen, die sich, neben der WEGVerwaltung, auf eine umfassende Miet- und Sondereigentumsverwaltung spezialisiert hat. Die Firma {{VERWALTER_NAME}} ist seit mehr als 25 Jahren im gesamten Liegenschaftsbereich aktiv und betreut aktuell eine Vielzahl von Verwaltungseinheiten. Von daher kann sich der Käufer von der erforderlichen Kompetenz und Leistungsfähigkeit seiner Geschäftspartner ein deutliches Bild machen. Allerdings ist zu berücksichtigen, dass sich trotz Referenzen und des Nachweises des Stammkapitals und bei rechtlich ordnungsgemäßen vertraglichen Vereinbarungen die durch die generelle Tätigkeit im Markt bestehenden Risiken bei der Verkäuferin verwirklichen können. Sollten daher diese Risiken durchschlagen, so besteht die Gefahr, dass die Verkäuferin in Insolvenz gerate n könnte. Umgekehrt offenbart der Käufer der Verkäuferin seine wirtschaftlichen Verhältnisse, so dass davon auszugehen ist, dass das erforderliche Eigenkapital vorhanden ist und Fremdkapital zu marktüblichen Konditionen dem Käufer gewährt werden würde. Damit ist die Annahme einer in sich stimmigen Finanzierung sachlich gerechtfertigt und die erforderliche wechselseitige Transparenz gegeben. 2. Vertragswerk Grundlage des vorliegenden Prospektes ist der Erwerb einer oder mehrerer Wohnungen von insgesamt noch neu zu errichtenden {{ANZAHL_WE}} Eigentumswohnungen in der eingangs bezeichneten Neubauimmobilie auf dem Gelände der {{PROJEKT_AREAL}} {{PROJEKT_ADRESSE}}, {{PROJEKT_PLZ_STADT}}. Der Käufer erhält dabei eine schlüsselfertig hergestellte Wohnung, im Wege eines notariellen Bauträgerkaufvertrages, zu einem vorher vereinbarten Festpreis.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10 Da es sich um einen Festpreis handelt, trägt die Verkäuferin in diesem Fall das Risiko von nach Vertragsabschluss entstehenden Kostensteigerungen (z. B. Material und/oder Lohn) und eventuell erst nachträglich auftretenden Baurisiken. Bei einer Erhöhung der gesetzlichen Mehrwertsteuer erhöhen sich allerdings -mit Ausnahme der ersten- alle Kaufpreisraten, die später als einen Monat nach Inkrafttreten der Steuererhöhung fällig werden, um den Prozentsatz der Steuererhöhung. Alle Wohnungen im Erdgeschoss auf der Ostseite verfügen über Terrassen und Gartenanteile. Die Wohnungen im Erdgeschoss auf der Westseite und in den Obergeschossen verfügen über Balkone. Optional besteht die Möglichkeit, Außenstellplätze auf dem Areal zu erwerben. Für das Rechtsverhältnis zwischen den Geschäftspartnern sind die Regelungen des Kaufvertragsrechts maßgebend. Zum Zeitpunkt der Prospekterstellung ist die Verkäuferin als Eigentümerin im Grundbuch eingetragen. a) Regelungsinhalte Der vorliegende Prospekt hat den Kauf von Wohnungseigentum nach Wohnungseigentumsgesetz (WoEigG) zum Inhalt. Des Weiteren wird es einen Verwaltervertrag für das Gemeinschaftseigentum geben, in welchen der Käufer eintritt (vgl. Ziffer 6. Immobilienmanagement). Ferner wird dem Käufer, falls er die Wohnung nicht zur Eigennutzung erwirbt, die Möglichkeit eingeräumt, mit der Hausverwaltung einen Mietverwaltervertrag (vgl. 5. Eigen- oder Fremdnutzungskonzept und 6. Immobilienmanagement) zu schließen. Das Unternehmen ist dabei als Verwalter für das Sondereigentum an der erworbenen Wohnung als auch als WEG-Verwalter tätig. b) Regelung durch die Makler- und Bauträgerverordnung Für das Rechtsverhältnis zwischen den Geschäftspartnern sind die Regelungen der sog. Makler- und Bauträgerverordnung (MaBV) in der jeweils aktuellen Fassung maßgebend, die ihren Eingang in den konkreten Bauträgerkaufvertrag finden. Dies bedeutet, dass der Käufer vertragsgemäß nur in der Höhe Zahlungen zu erbringen hat, als diesen Zahlungen zuvor festgelegte Bauleistungen durch die Verkäuferin gegenüberstehen. Da diese Sätze pauschalisiert sind, entspricht der gezahlte Kaufpreisanteil nicht unbedingt dem Wert der Bauleistungen. Ferner muss die Verkäuferin dafür Sorge tragen, dass die konkrete schlüsselfertige Immobilie (= Sondereigentum) bis zum vertragsgemäß vereinbarten Termin bezugsfertig ist. c) Einbehalt oder Sicherheitsleistung Sollte es sich bei dem Käufer um einen klassischen Verbraucher handeln, so hat dieser kraft Gesetzes (§ 632a Abs. 3 BGB) die Möglichkeit eingeräumt bekommen, einen Einbehalt von 5 % des Kaufpreises bei der ersten Abschlagszahlung vornehmen zu können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11 oder sich von der Verkäuferin eine Sicherheit stellen zu lassen (z. B. selbstschuldnerische Bürgschaft), damit die Verkäuferin sicherstellt, dass der Kaufgegenstand rechtzeitig und ohne wesentlichen Mängel an den Käufer übergeben wird, da sie sonst Gefahr läuft, den Einbehalt nicht ausgezahlt zu bekommen bzw. die Sicherheit in Anspruch genommen wird. Allerdings ist zu beachten, dass weder der Einbehalt noch die Sicherheit als solches verhindern können, dass es zu Leistungsstörungen im Vertragsverhältnis kommt, denn es handelt sich hier nur um spezielle Formen von Sicherheiten. d) Verjährung der Ansprüche Nach erfolgter Abnahme der Liegenschaft gilt die gesetzliche Verjährungsvorschrift des § 634a Abs.1 Ziffer 2 BGB mit einer fünf Jahre dauernden Mängelbeseitigungsverpflichtung für die am Gebäude erbrachten Bauleistungen. Wirtschaftlich besteht allerdings das Risiko, dass dieser Mängelbeseitigungsanspruch nur eingeschränkt oder gar nicht durchgesetzt werden kann, wenn die Verkäuferin innerhalb des Fünf-Jahres-Zeitraums in Vermögensverfall gerät und damit ihre Leistungsverpflichtung auch nur noch teilweise oder gar nicht mehr erfüllen kann. e) Weitergehende Schadensersatzansprüche Sollte es sich im Nachhinein ergeben, dass weitergehende Schadensersatzansprüche gegen die Verkäuferin bestehen könnten (z. B. Transaktionsnebenkosten, Verspätungsschäden, Vertragsstrafen, verzögerte Vermietungsmöglichkeit und damit einhergehender Mietausfall, entgangene Steuervorteile als Teil des Verspätungsschadens oder zusätzliche Finanzierungskosten bei kompletter Rückabwicklung des Kaufvertrages), so bleibt das tatsächliche und rechtliche Risiko der Leistungsfähigkeit der Verkäuferin beim Käufer, wenn dieser den Kaufpreis zwischenzeitlich vollständig bezahlt und auch die Sicherheit wegen Erledigung zurückgegeben hat. f) Insolvenz der Verkäuferin Trotz rechtlich ordnungsgemäßer vertraglicher Vereinbarungen können sich die durch die generelle Tätigkeit im Markt bestehenden Risiken bei der Verkäuferin verwirklichen, die im schlimmsten Fall sogar zur Insolvenz führen und damit die Erfüllung der Verpflichtungen aus dem Bauträgerkaufvertrag verhindern. Sollte dieser Fall eintreten, so muss zwischen dem Eigentumserwerb und der Fertigstellung des Bauwerkes unterschieden werden. Sobald das Wohneigentum gebildet sowie zu Gunsten des Käufers eine Auflassungsvormerkung im Grundbuch eingetragen wurde, hat der Käufer gegenüber dem Insolvenzverwalter der Verkäuferin eine gesicherte Rechtsposition auf Übertragung des erworbenen Objektes. Der dinglich gesicherte Anspruch auf Eigentumsverschaffung begründet jedoch keinen Anspruch auf Fertigstellung der Baumaßnahmen. Da in der Regel in der Liegenschaft mehrere einzelne Wohnungen vorhanden sind, bedeutet dies, dass sich der Käufer überlegen muss, ob er sich nicht mit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11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12 anderen Miteigentümern/Käufern, die das gleiche Schicksal der Insolvenz ihrer Verkäuferin verbindet, vereinbart, um nicht fertiggestellte Baumaßnahmen (Ausbau, Modernisierung etc.) in gemeinsamer Verantwortung fortzuführen und ein drittes Unternehmen mit der Fertigstellung zu beauftragen, wenn sich der Insolvenzverwalter dazu nicht mehr in der Lage sieht. Dies ist allerdings nur dann möglich, wenn auch alle Eigentümer bereit sind, sich an den dadurch bedingten (Mehr-)Kosten finanziell zu beteiligen. Grundsätzlich ist nämlich davon auszugehen, dass in diesen Fällen zusätzliche Kosten entstehen werden, da die ursprüngliche Pauschalpreisvereinbarung nicht mehr greift und die Gewerke neu einzeln vergeben werden müssen. Die anfallenden Kosten kann der Käufer im Wege des Schadenersatzes oder der Kaufpreisminderung verlangen und mit dem Kaufpreiszahlungsanspruch verrechnen. Letztlich muss sich der Käufer darüber im Klaren sein, dass trotz dieser Bemühungen das Risiko besteht, dass die Baumaßnahme nicht oder nur teilweise durchgeführt wird. Da der Käufer zu diesem Zeitpunkt gegebenenfalls eine Fremdfinanzierung für den Kaufpreis abgeschlossen hat, laufen Zins- und Tilgungskosten immer weiter, ohne dass die erhofften Mieteinnahmen kommen. Gerät die Verkäuferin nach Fertigstellung des Bauwerkes und Übergabe in Insolvenz, so muss berücksichtigt werden, dass eventuelle Gewährleistungsansprüche bereits vor Ablauf der fünfjährigen Verjährungsfrist verloren gehen, da die Verkäuferin selbige nicht mehr erfüllen kann. Auch die im Rahmen des Kaufvertrages von der Verkäuferin sicherungshalber vorgenommene Abtretung von Erfüllungs- und Schadensersatzansprüchen gegen die am Bau beteiligten Handwerker etc. findet dort ihre Grenzen, wenn sich selbige in Insolvenz befinden. g) Rücktritt vom Vertrag Ein Rücktritt vom Grundstückskaufvertrag kommt nur dann in Betracht, wenn dieser ausdrücklich im Vertrag vereinbart wurde oder ein gesetzliches Rücktrittsrecht besteht. Nur falls sich die Verkäuferin vertragswidrig verhält, hat der Käufer das Recht, die Aufhebung des Grundstückskaufvertrages zu verlangen oder den Rücktritt vom Vertrag zu erklären. Sollte hingegen der Käufer sich im Nachgang zu seiner Kaufentscheidung doch nicht in der Lage sehen, die Finanzierung zeitnah zu bekommen oder Gründe auftreten, die in seiner Person begründet sind (Änderung der persönlichen Lebensplanung o. Ä.), so stellt dies keinen Rücktrittsgrund dar und der Käufer muss sich am Vertrag festhalten lassen. Der Haftungsausschluss (vgl. Ziffer 2d) findet allerdings seine Grenzen, wenn es sich um Vorsatz/arglistiges Verschweigen von Mängeln handelt und der Käufer von daher die Rückabwicklung des Vertrages verlangen kann. Allerdings muss sich dann der Käufer darüber bewusst sein, dass er den gezahlten Kaufpreis ganz oder zum Teil nicht zurückerhält (vgl. Ziffer 2c) und es eventuell zusätzlicher Gerichts- und Anwaltskosten bedarf, um sein Recht durchzusetzen. h) Zusätzliche Unwägbarkeiten | Risiken Ohne dass diese Aufzählung den Anspruch auf Vollständigkeit in sich birgt, so darf der Käufer nicht vergessen, dass es trotz ordnungsgemäßem Vertragswesen und</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12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13 leistungsfähiger und williger Verkäuferin Fallkonstellationen gibt, auf die beide Seiten keine Einfluss haben: Durch Unwetter oder ähnliche Naturgewalten (Höhere Gewalt) verzögert sich die Fertigstellung des Bauvorhabens (kein Schadensersatz), oder schleppenden Abverkauf der Wohnungseigentumseinheiten kann der ursprünglich geplante Baubeginn nicht eingehalten werden (mögliches Erfordernis eines Kaufvertragsnachtrages), durch Streik steht das Personal nicht oder nur eingeschränkt zur Verfügung bzw. Subunternehmer sind nicht arbeitsfähig, (nachträgliche) Sonderwünsche der Käufer behindern den Bauablauf, aufgrund öffentlich-rechtlicher oder gerichtlicher Entscheidungen kommt es zur Baueinstellung etc. Die Verkäuferin haftet insbesondere auch dann nicht für eine Überschreitung des Fertigstellungstermins, soweit die Terminüberschreitung darauf beruht, dass die Verbreitung von Viren, wie z.B. des Covid19-Virus oder staatliche Maßnahmen zu seiner Bekämpfung wie etwa Tätigkeitsverbote, Bewegungseinschränkungen oder Quarantänen dazu führen, dass Arbeitskräfte, Baumaterialien oder -geräte trotz vorausschauender Beschaffungsmaßnahmen der Verkäuferin zu der Zeit nicht verfügbar sind, zu der sie für die vertragsgerechte Bauerrichtung benötigt werden, oder vergleichbare Störungen bei der Bauerrichtung auftreten. Weitergehende Schadensersatzansprüche sind ausgeschlossen, soweit der Verkäuferin nicht Vorsatz oder grobe Fahrlässigkeit zur Last fällt. Damit entfallen für den Zeitraum des Verzuges auch die zunächst eingeplanten Mieteinnahmen für den Käufer. Die Abgeschlossenheitsbescheinigung ist mit Datum vom 18.06.2025, AZ 67/25/0924, erteilt worden. Die ursprüngliche Teilungserklärung UVZ-NR. 2175/2023 des Notars {{NOTAR_NAME}} (geschäftsansässig: 39112 Magdeburg, Humboldtstraße 2) wurde am 19.12.2023 und die Ergänzung zur Teilungserklärung UVZ-NR. 1144/2025 des Notars {{NOTAR_NAME}} (geschäftsansässig: 39112 Magdeburg, Humboldtstraße 2) wurde am {{VERWEISURKUNDE_DATUM}} erstellt. Die Baugenehmigung wurde zum Zeitpunkt der Prospektierung beantragt. 3. Lage Von entscheidender Bedeutung für den Wert einer Immobilie ist immer ihre Lage. Dabei kommt es sowohl auf die Makro- als auch die Mikrolage an. Der Käufer muss daher, bevor er seine Kaufentscheidung trifft, prüfen, wo sich die Liegenschaft befindet. Nur in einer ökonomisch und ökologisch gesunden Umgebung ist mit einer stabilen Entwicklung des Immobilienmarktes zu rechnen. Dabei kommt es auch immer darauf an, in welchem Stadtviertel sich die Liegenschaft befindet, denn auch innerhalb der gleichen Stadt gibt es aufgrund der unterschiedlichen Nachfrage erhebliche Differenzen beim Immobilienwert. Gleiche Entwicklungen gibt es dann auch innerhalb des gleichen Stadtviertels. Des Weiteren ist immer zu berücksichtigen, dass die Prüfung immer nur den aktuellen Zustand widerspiegelt. Künftige städtebauliche Entwicklungen, Wohntrends oder geänderte wirtschaftliche Rahmenbedingungen können dazu führen, dass sich die Standortattraktivität ändert und damit der Immobilienwert aufgrund der geänderten Nachfrage steigt oder fällt. Die Liegenschaft befindet sich im Stadtteil Neue Neustadt der Landeshauptstadt Magdeburg (Bundesland Sachsen-Anhalt). Die genaue Lage wird im Prospekt Teil A</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13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14 beschrieben. Es gilt aber auch hier, dass das Umfeld der Liegenschaft sowie die Entwicklung der Mieten und Immobilienpreise Schwankungen unterworfen sind, die einerseits dem Käufer zum Vorteil, aber auch zum Nachteil gereichen können, was in jedem Fall erhebliche Auswirkungen auf die Werthaltigkeit der Eigentumswohnung haben kann. Der Käufer muss immer berücksichtigen, dass sich der Immobilienwert niemals linear entwickelt. 4. Zustand der Liegenschaft Maßgebend für den Immobilienkäufer ist neben den zuvor beschriebenen Kriterien, dass es sich um eine zeitgemäße angepasste Bauausführung handelt. Dies bedeutet, dass Raumaufteilung, Pläne/ Grundriss und Ausstattung, sowie die verwendeten Materialien den Wünschen der heutigen Käuferschaft entsprechen, da nur dann sichergestellt werden kann, dass auch ein adäquater Immobilienwert vorhanden ist. Die Ergänzung zur Teilungserklärung vom {{VERWEISURKUNDE_DATUM}} (UVZ-NR. 1144/2025) beinhaltet in Anlage 5 die Bauund Leistungsbeschreibung (weitere Erläuterungen finden sich dazu im Abschnitt Konzeptionelle Gestaltung), so dass sich der Käufer ein Bild von der beabsichtigen Baumaßnahme machen kann. Gleichzeitig finden diese Informationen Eingang in den notariellen Kaufvertrag. a) Bauvorhaben Die Verkäuferin wird auf dem vorstehend näher beschriebenen Grundbesitz ein Mehrfamilienwohnhaus nach Maßgabe der Bau- und Leistungsbeschreibung gem. Verweisurkunde und der dazugehörigen Pläne neu errichten. Mit dem Bau wurde noch nicht begonnen. Der Verkäufer verpflichtet sich, das Bauwerk gemäß der Bau- und Leistungsbeschreibung lt. Verweisurkunde vom 4. {{STAND_STEUER}} schlüssel- und bezugsfertig herzustellen und auszustatten, nur normgerechte Baustoffe zu verwenden und das Bauvorhaben nach dem Stand der Technik zum Zeitpunkt der Beurkundung der Teilungserklärung am 4. {{STAND_STEUER}} und technisch einwandfrei zu errichten. Die Vertragsparteien sind sich also darüber einig, dass insofern nicht die nach den allgemeinen Rechtsgrundsätzen zum Zeitpunkt der Abnahme maßgeblichen Regeln der Technik gelten sollen. Zwischen den Beteiligten wird klargestellt, dass die Baubeschreibung keine Garantieerklärung, sondern nur eine Vereinbarung über die Beschaffenheit des vom Verkäufer zu sanierenden Bauwerks darstellt. Die Baubeschreibung hat dabei Vorrang vor den Plänen. Soweit durch bestimmte Bereiche der Liegenschaft gemeinschaftliche Heizungs-, Wasserund Abwasserleitungen o.ä. führen bzw. Absperrventile für Steigestränge angebracht sind, hat der Käufer diese zu dulden.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14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15 Sofern in den Plänen Möblierungen eingezeichnet sind, die Umgebung des Kaufgegenstandes oder der angrenzende Bereich dargestellt ist, ist dies für den Vertrag unverbindlich und stellt keinen Leistungsbestandteil der Verkäuferin dar. Änderungen in der Planung und Ausführungsart, den vorgesehenen Baustoffen und Einrichtungsgegenständen sind zulässig, wenn sie • nach Vertragsabschluss aufgrund behördlicher Auflagen oder aus technischen Gründen notwendig werden oder • nur das Sondereigentum und Sondernutzungsrechte Dritter oder das für den Vertragsgegenstand unerhebliche Gemeinschaftseigentum betreffen oder • das für den vertragsgemäßen Gebrauch des Vertragsgegenstands erhebliche Gemeinschaftseigentum lediglich unwesentlich ändern. Sämtliche Änderungen dürfen Güte, Wert und Gebrauchsfähigkeit des Vertragsgegenstands nicht mindern, müssen dem Erwerber zumutbar sein und sind ihm unverzüglich mitzuteilen. Der Festpreis ändert sich dadurch nicht. Soweit die Baubeschreibung oder der Kaufvertrag keine oder nur unbestimmte Angaben hinsichtlich der Bauausführung enthalten, werden die Bauleistungen in einer den sonstigen Leistungen und dem Baustandard des Bauwerks entsprechenden Qualität ausgeführt. Die Verkäuferin ist insofern zur Leistungsbestimmung gem. § 315 BGB nach billigem Ermessen berechtigt. b) Ausnahmen und Nutzungshinweis Um ungerechtfertigte Beurteilungsspielräume auszuschließen und um dem Käufer eine sachlich fundierte Kaufentscheidung zu erleichtern, weist die Verkäuferin auf folgende Gegebenheiten gesondert hin: • Ausgenommen von den Anforderungen an den Schallschutz sind nicht reproduzierbare Nutzergeräusche sowie Geräusche, die durch den Betrieb von elektrischen Rollläden und Rolltoren entstehen. Anforderungen an den Schallschutz innerhalb einer Wohneinheit sind nicht vereinbart. • Der Käufer wird darauf hingewiesen, dass auch nicht sichergestellt werden kann, dass keine Geräusche von außen oder aus benachbarten Räumen, wie etwa zuschlagende Türen, lautstarke Gespräche oder Schläge gegen Geländerkonstruktionen, mehr wahrgenommen werden. • Planunterlagen und Zeichnungen, insbesondere Prospektpläne, sind nicht zur Maßentnahme für Einrichtungsgegenstände und Einbauten geeignet. Sämtliche Maße müssen vor Ort am Objekt nach Abschluss der Ausbaugewerke überprüft bzw. ermittelt werden. • Eine Vermoosung oder Veralgung (der Außenfassade) nicht ausgeschlossen werden.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15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16 • Rissbildungen (sogenannte „Haarrisse") in Bauteilen wie Wänden, Decken, Putz- und Trockenbaubekleidungen, Anschlussfugen (z. B. zwischen Holzbauteilen und Fassadenputz etc.), die aufgrund der bauphysikalischen und materialbedingten Eigenschaften der Bauteile entstehen (z. B. Kriechen, Schwinden, Setzungen oder Austrocknungsprozesse) stellen keinen Mangel dar. • Elastische Fugenabdichtungen aus Silikon, Acryl oder anderen Dichtstoffen bei Boden-Wandanschlussfugen und in Sanitärbereichen (z. B. bei Badewannen und Duschtassen) können durch Senkungen oder Verformungen der Estrichflächen abreißen. Dies stellt keinen Mangel dar. Es handelt sich um Wartungsfugen, die einer regelmäßigen Überprüfung und ggf. Erneuerung durch den Käufer/Nutzer bedürfen, um Folgeschäden zu vermeiden. • Zur Einhaltung der nach Trinkwasserverordnung geforderten Trinkwasserqualität bis zur letzten Entnahmestelle in der Wohneinheit ist der bestimmungsgemäße Betrieb der Trinkwasseranlage erforderlich und liegt in der Verantwortung des jeweiligen Wohnungsnutzers. Es muss sichergestellt sein, dass durch regelmäßige Benutzung der Zapfstellen eine ausreichende Spülung der Trinkwasserrohrleitungen durchgeführt und hierdurch eine längere Stagnation des Trinkwassers (&gt; 72 h) in den Rohrleitungen vermieden wird. Der Käufer kann dadurch keine Ansprüche gegen die Verkäuferin geltend machen. c) Wohnfläche Auch geringfügige Änderungen der Wohnfläche (+/- 3 %) und der Raumaufteilung sind durch den Käufer hinzunehmen und berechtigen nicht zur Kaufpreisminderung und der Kaufvertrag ist entsprechend ausgestaltet (vgl. BGH Urteil vom 22.10.1999 Az.: V ZR 398/98 in NJW–RR 2000,202 „Geringfügigkeitszuschlag“). Abweichungen von den sich aus den Plänen ergebenen Flächengrößen sind im vorliegenden Fall nur auszugleichen, soweit sie 3% übersteigen, jedoch dann nicht, wenn ein Mindermaß durch Sonderwünsche des Käufers veranlasst ist. Eine Erhöhung des Kaufpreises aufgrund Flächenmehrung ist jedoch begrenzt auf 5% des vereinbarten Kaufpreises. Die Berechnung der Wohnflächen gegenüber dem Mieter erfolgt dagegen nach der II. BerechnungsVO in der Fassung der sog. Wohnflächenverordnung (WoFlV). Dabei ist zu berücksichtigen, dass Balkone sowie Dachterrassen und Terrassenflächen aufgrund der erhöhten Wohnqualität und Werthaltigkeit bei der Planung mit der Hälfte ihrer Grundfläche angesetzt werden. Diese Berechnung unterscheidet sich von der Regelung der WoFlV, die diese Flächen nur mit ¼ ihrer Grundfläche berücksichtigt. Sollte der Käufer die Räumlichkeit vermieten wollen, so muss er sich bewusst sein, dass soweit nichts anderes vertraglich vereinbart ist -, die Flächenberechnung nach der Wohnflächenverordnung für die Wohnungsgröße und die Nebenkostenabrechnung maßgebend ist und er dadurch gebunden sein kann.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16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17 Es ist allerdings rein vorsorglich darauf hinzuweisen, dass die ursprünglich vom BGH in solchen Fällen vertretene Auffassung, dass eine 10 % Toleranzgrenze für Flächenabweichung gilt, mit der Entscheidung vom 18.11.2015 (BGH Urteil, Az.: VIII ZR 266/14 in NJW 2016, 239) aufgegeben wurde und es nunmehr nur auf die tatsächliche Größe der Wohnung ankommt. Der BGH hat diese Rechtsprechung mit Entscheidung vom 30.05.2018, (Az.: VIII ZR 220/17 in NJW 2018, 2317) auch auf die Betriebskostenabrechnung erweitert. Die Betriebskosten sind nach den tatsächlichen Gegebenheiten und nicht nach den Parteivereinbarungen abzurechnen. Da die letzte Entscheidung unmittelbaren Einfluss auf Nebenkostenabrechnungen hat steht zu befürchten, dass hier zukünftig aufgrund von Messfehlern / Umlagemaßstäben Streitpotential besteht. Der BGH hat nunmehr zu der Berechnung der Fläche von Balkonen, Terrassen und Wintergärten entschieden, dass ein anderer Berechnungsmodus möglich ist, wenn er örtlich üblich ist. Eine solche maßgebende Verkehrssitte setzt voraus, dass abweichend von den sonst anwendbaren Bestimmungen – z.B. der Wohnflächenverordnung - ein anderes Regelwerk, mithin die II. Berechnungsverordnung, die DIN 283 oder die DIN 277 insgesamt angewendet wird (BGH Urteil vom 17.04.2019, Az.: VIII ZR 33/18 in NJW 2019 S.8 Nr. 25). Es kann daher unter Anwendung der II. Berechnungsverordnung bei einer Berechnung mit 1/2 der Fläche bleiben. d) Photovoltaikanlage Die Verkäuferin ist berechtigt, mit einer von ihr zu bestimmenden Firma einen Vertrag über eine Photovoltaikanlage über einen Zeitraum von 20 Jahren zu schließen, die Vertragsbedingungen frei zu vereinbaren und diese einschl. sämtliche zu deren Betrieb erforderlichen Nebenanlagen (Schalt- und Messstation, Wechselrichter, Kabelverbindungen usw.) auf dem Dach der Gebäude zu installieren bzw. installieren lassen. Die Verkäuferin ist berechtigt, alle hierzu erforderlichen baulichen und technischen Arbeiten auf eigene Kosten vorzunehmen bzw. vornehmen zu lassen, auch soweit hierzu in Gemeinschaftseigentum eingegriffen werden muss. Etwaige hierdurch entstehende Schäden am Gemeinschaftseigentum hat sie auf eigene Kosten unverzüglich zu beseitigen. Sie ist auch berechtigt, eine in ihrem Eigentum stehende Anlage an beliebige Dritte zu verkaufen. Die Kosten der Installation, Instandhaltung und Instandsetzung trägt im Verhältnis zur WEG die Verkäuferin. Der zum Betrieb dieser Anlage erforderliche Wechselrichter befindet sich im Bereich der PV Modul-Flächen. Über die TGA-Installationsschächte wird die Verbindung zum Einspeisezähler in dem ElektroHausanschlussräumen hergestellt. Aus der Anlage resultierender Strom kann an beliebige Dritte veräußert werden; hieraus resultierende Einnahmen stehen der Eigentümerin oder einem von ihr zu bestimmenden Dritten zu. Zur Sicherung dieses Rechts wird eine beschränkte persönliche Dienstbarkeit bestellt. Der Käufer ist verpflichtet, für den Fall, dass ein Dritter in den von der Verkäuferin geschlossenen Vertrag als Berechtigter eintritt, eine entsprechende beschränkt persönliche Dienstbarkeit gleichen Inhalts zu bestellen und als nicht wertmindernd gegen sich geltend zu lassen.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17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18 Soweit im Zusammenhang mit dem Gesamtbauvorhaben (Denkmalbestandsimmobilie) und (Tonnengewölbe) Einrichtungen und Anlagen zur Ver- oder Entsorgung (einschließlich Photovoltaikanlagen) eingebaut werden, ist der Erwerber zur Duldung und zur Bestellung entsprechender Dienstbarkeiten im Grundbuch ohne Minderungsmöglichkeiten des Kaufpreises oder anderweitiger Zahlungen verpflichtet. In diesem Fall ist der Käufer auch verpflichtet, Vorrangerklärungen abzugeben. Dasselbe gilt für Baulasten im Zusammenhang mit dem Bauvorhaben. Zwecks Bestellung dieser Eintragungen einschließlich der Vorrangeinräumung solcher Dienstbarkeiten gegenüber der zugunsten des Käufers etwa eingetragenen Auflassungsvormerkung und bestellten Grundpfandrechten erteilt der Käufer der Verkäuferin unter Befreiung von den Beschränkungen des § 181 BGB bereits im Zuge des notariellen Bauträgerkaufvertrages unwiderrufliche Vollmacht. e) Tonnengewölbe Der Käufer verpflichtet sich, die Realisierung der möglicherweise auch nach Fertigstellung der denkmalgeschützten Eigentumswohnungen und auch nach Errichtung des Neubaus zukünftigen Baumaßnahme „Tonnengewölbe“ nicht zu verhindern oder zu verzögern. Hierbei verpflichtet er sich, alle nötigen Handlungen vorzunehmen oder Erklärungen abzugeben und entgegenzunehmen, die für die Verwirklichung dieses zukünftigen Vorhabens noch erforderlich sein sollten bzw. alles zu unterlassen, was die Realisierung verhindern könnte. Auch etwaige am Gemeinschafts- und/oder Sondereigentum während der Baumaßnahme eintretenden außergewöhnlichen Belastungen und Beschränkungen, zeitlich begrenzt oder dauernd bestehend, werden ohne Ausgleichspflicht des Errichters akzeptiert und hingenommen; dies bezieht sich auch auf etwaige Veränderungen, die sich aufgrund von baulichen oder nutzungsrelevanten Notwendigkeiten ergeben (wie z.B. zusätzliche Lüftungsschächte, Glaskuppeln, Fluchtwege, Fluchttreppen o.ä.), sofern sich diese nicht unbillig in die Gestaltung der Gesamtanlage einfügen. Der Käufer ermächtigt den das Tonnengewölbe ausbauende Eigentümerin und den jeweiligen Verwalter unter Befreiung von den Beschränkungen des § 181 BGB, ihn bei der Abgabe der zur Grundbucheintragung notwendigen und dienlichen Erklärungen und Anträgen gegenüber dem Grundbuchsamt und dem Notar zu vertreten; hierzu wird der Eigentümerin unwiderruflich Vollmacht erteilt. Der Käufer verpflichtet sich, die der aufteilenden Eigentümerin des Tonnengewölbes erteilten Vollmacht nicht zu widerrufen und im Fall der Weiterveräußerung dessen Erwerber zu einer entsprechenden Vollmachtserteilung zu verpflichten. f) Immissionen Der Käufer wurde im Rahmen der Vermarktung des Vertragsgegenstandes durch die Verkäuferin über die weitere, im Areal geplante Bebauung der Nachbargrundstücke, d.h. das künftig an den hier gegenständlichen Grundbesitz angrenzenden DenkmalBestandimmobilie sowie das Tonnengewölbe, informiert. Der Käufer stimmt hiermit dem beabsichtigten Bauvorhaben der Verkäuferin oder deren Rechtsnachfolgers zu und erklärt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18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19 sich bereits heute mit der Bebauung der Nachbargrundstücke einverstanden. Der Käufer ist sich darüber im Klaren, dass diese weitere Bautätigkeit aufgrund der unterschiedlichen Bauabschnitte sich über einen gewissen Zeitraum erstrecken wird. Dies bedeutet gegebenenfalls einzelne Lärmbelästigungen. Die Verkäuferin empfiehlt daher dem Käufer, dass er seine Mieter auf diesen Umstand ausdrücklich hinweisen sollte, da sonst die Gefahr bestünde, dass diese versuchen könnten, Mietminderungen wegen der Lärmbelästigung vorzunehmen. 5. Eigen- oder Fremdnutzungskonzept Wenn der Käufer alle zuvor genannten Punkte berücksichtigt hat, stellt sich sodann für ihn die Frage, ob er die Eigentumswohnung selber bewohnen möchte (sog. Eigennutzungskonzept) oder sie an einen Dritten vermieten will (sog. Fremdnutzungskonzept), da beides möglich ist. Sollte sich der Käufer für die Vermietung entscheiden, so muss er sich darüber im Klaren sein, dass vermietete Eigentumswohnungen im Fall der Weiterveräußerung den Nachteil haben, dass sie für einen Eigennutzer grundsätzlich eher nicht in Betracht kommen. Der Kapitalanleger als Käufer ist an einer rentablen Kapitalanlagemöglichkeit interessiert, bei der der wirtschaftliche Vorteil sich erst aufgrund einer längeren Haltedauer verwirklichen kann, da die Transaktionskosten (Kaufpreis einschließlich Vertriebs- und Marketingkosten, Nebenkosten wie Notarkosten und Grundsteuer, Finanzierungskosten und Spekulationssteuer) zuvor erst erwirtschaftet werden müssen. Der Käufer muss dabei auch berücksichtigen, dass die Vertriebskosten (Werbemaßnahmen und insbesondere Vertriebsprovisionen) in der Regel immer höher sind als vergleichbare marktübliche Maklerprovisionen. Was die konkreten Vertriebskosten angeht, so kann der Käufer diese bei Interesse bei der Verkäuferin im konkreten Einzelfall erfragen, da diese je nach Vertriebspartner und Vertriebsstand unterschiedlich hoch seien können. Des Weiteren ist zu beachten, dass der zu erzielende Verkaufspreis bei einer raschen Weiterveräußerung (Notveräußerung) in der Regel niedriger ist, als der hier vorliegende Kaufpreis. Eine kurzfristige Weiterveräußerung würde somit - saldiert betrachtet - eine nachteilige Kaufpreisentwicklung beinhalten. a) Eigennutzung Der klassische Eigennutzer ist bestrebt, die Wohnung nach seinen Wünschen und Vorstellungen entstehen oder umgestalten zu lassen. Durch die vorhandene Bauplanung ist er allerdings in bestimmten Bereichen an die Vorgaben gebunden. Etwaige Sonderwünsche führen ggf. zu mehr oder weniger aufwendigen Umbaumaßnahmen, wodurch die Wohnung eine weitgehend individuelle Note erhält. Dies ist grundsätzlich im Auftrag und auf Kosten des Käufers vorstellbar . Allerdings muss der Käufer immer berücksichtigen, dass geänderte Ausstattungsmerkmale (z. B. Marmorfußboden, Whirlpool o. Ä.) sowie dadurch gegebenenfalls erforderliche Änderungen der Raumaufteilung bereits eine sehr frühzeitige und genaue Abstimmung mit der Verkäuferin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19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20 bedürfen, damit es nicht zu einer unnötigen, durch den Käufer zu vertretenden, Bauverzögerung kommt. Sonderwünsche werden je nach Art und Umfang erfahrungsgemäß zu Kostenerhöhungen und einer (teilweisen) Bauzeitverlängerung führen, für die der Käufer das Risiko trägt. Ein einklagbarer Anspruch des Käufers auf die Einbeziehung von Sonderwünschen ist nicht gegeben, es bedarf stattdessen der Abstimmung mit der Verkäuferin im jeweiligen Einzelfall. Sollte eine positive Abstimmung erfolgen, sind sie nach Genehmigung vom Käufer unmittelbar an die am Bau beteiligten Unternehmer auf seinen Namen und auf seine Rechnung in Auftrag zu geben. Die Abrechnung erfolgt, wenn es zu einer solchen Vereinbarung kommt, zwischen der Verkäuferin und dem Käufer. Die Verkäuferin übernimmt keine Haftung hierfür. Die Erstellung von Planungen und Zeichnungen, die für Sonderwünsche erforderlich sind, ist gesondert zu vergüten. b) Fremdnutzung Die Alternative zur Eigennutzung ist die Fremdnutzung. Entscheidet sich der Käufer für die Vermietung, kommt es wesentlich auf die Vermietbarkeit der Eigentumswohnung an. Für die Vermietbarkeit ist die Lage, der Wohnungszuschnitt und die Ausstattung maßgebend. Die Prospektherstellerin/Verkäuferin geht aufgrund ihrer vorherigen Studien zur Vermietbarkeit von einer Eigentumswohnung mit Vermietungspotential aus. Bei den Angaben im Prospekt zu Mieterwartungen oder den Berechnungsbeispielen handelt es sich um die Ergebnisse von Recherchen zu ortsüblichen Mieten und nachhaltig zu erzielenden Mieten. Alle diese Angaben sind Momentaufnahmen der Marktsituation, die einem teilweise raschen Wandel unterworfen sind. Seitens des Verkäufers kann für diese Angaben keine Gewähr übernommen werden. Zukünftige Mieterhöhungen nach Erstvermietung betreffend, ist der Käufer an die gesetzlichen Vorgaben zu Mieterhöhungsverlangen gebunden. Das Gesetz zur Dämpfung des Mietanstieges auf angespannten Wohnungsmärkten und zur Stärkung des Bestellerprinzips bei der Wohnungsvermittlung wurde am 05.03.2015 im Bundestag verabschiedet und der Bundesrat hat das Gesetz in der Sitzung am 27.03.2015 abschließend beraten und bestätigt. Diese Neuregelungen (sog. Mietpreisbremse) sind mit Wirkung zum 01.06.2015 in Kraft getreten und damit wurde den Bundesländern das Recht eingeräumt, bis Ende 2020 Gebiete mit angespanntem Wohnungsmarkt zu bestimmen. Die Einstufung gilt dann anschließend 5 Jahre lang bis 2025. Die Bundesregierung hatte sich am 10.04.2024 auf die Umsetzung der im Koalitionsvertrag vereinbarten Verlängerung der Mietpreisbremse um 3 Jahre bis 2029 geeinigt (Quelle: ZDF heute vom 10.04.2024). Der vorliegende Gesetzesentwurf war noch in der Abstimmung, da das Bundesjustizministerium eine Beendigung per 31.12.2028 vorgeschlagen hatte (Quelle: Haufe News 02.07.2024). Der Bundesrat hat dann in seiner Sitzung vom 14.02.2025 einen Gesetzesentwurf zur Verlängerung der Mietpreisbremse bis zum 31.12.2029 beschlossen, dem auch das Bundesland Hessen zugestimmt hatte (Quelle. Hessenschau vom 14.02.2025). Der Gesetzesentwurf wurde zunächst der noch amtierenden Bundesregierung zugeleitet. Dies hätte innerhalb von 6 Wochen eine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20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21 Stellungnahme abgeben können und danach wäre der Gesetzesentwurf an den Bundestag weitergeleitet worden, was aber durch die Neuwahlen obsolet geworden ist. Aufgrund des anstehenden Regierungswechsels hatten sich CDU, CSU und SPD im Rahmen der Sondierungsgespräche zunächst darauf geeinigt, dass die Mietpreisbremse zunächst um 2 Jahre verlängert wird (Quelle: Ergebnisse der Sondierungen von CDU; CSU und SPD vom 08.03.2025 Seite 10). Der Koalitionsvertrag vom 05.05.2025 sieht vor, die Mietpreisbremse um weitere vier Jahre zu verlängern, also bis zum 31.12.2029. Inhaltliche Verschärfungen der Mietpreisbremse, wie eine Verschärfung der Kappungsgrenze, die bei den Koalitionsverhandlungen diskutiert worden ist, sieht der Koalitionsvertrag nicht vor. Jedoch soll bis zum 31.12.2026 eine Expertengruppe eine Bußgeldbewehrung bei Nichteinhaltung der Mietpreisbremse vorbereiten. Bisher ist keine solche Sanktion vorgesehen. Der Vermieter ist zwar dem Risiko ausgesetzt, dass Mieter eine Anpassung für die Zukunft sowie eine Rückzahlung überzahlter Mieten von bis zu drei Jahren fordern können, wovon de facto jedoch in der Vergangenheit nur wenige Mieter Gebrauch machten. Dies bedeutet, dass die neue Miete nur noch um zehn Prozent über der ortsüblichen Vergleichsmiete liegen darf (sog. Kappungsgrenze). Der Bundestag hat nunmehr am 26.06.2025 die Verlängerung der Mietpreisbremse bis zum 31.12.2029 beschlossen (Quelle: Tagesschau). Des Weiteren wurde durch die Presseberichterstattung mitgeteilt, dass die neue Bundesbauministerin Frau Huberts sich eine Ausweitung der Mietpreisbremse auch auf Wohnungen vorstellen könne, die nach dem Stichtag 01.10.2014 gebaut wurden (Quelle: Spiegel Wohnungspolitik vom 15.06.2025). Es wird sich zeigen, ob dieser Vorschlag Eingang in das Gesetzgebungsverfahren bekommt. Erstvermietungen neu gebauter Wohnungen nach dem Stichtag 01.10.2014 sind (bislang) davon aber ausgenommen, um den Wohnungsbau nicht zu gefährden. Gleiches gilt für grundlegend sanierte/modernisierte Wohnungen. In Sachsen-Anhalt besteht nach Einschätzung der Landesregierung kein Mangel an bezahlbaren Mietwohnungen. Da die Mietpreisbremse nur für Gebiete mit angespanntem Wohnungsmarkt gilt, sieht die Landesregierung zurzeit noch keine Notwendigkeit, die Neuregelung umzusetzen (vgl. qualifizierte Mietspiegel gem. § 558d Absatz 1 Satz 1 BGB der Landeshauptstadt Magdeburg vom 18.01.2024 als qualifizierter Mietspiegel gemäß § 558d Absatz 1 Satz 1 BGB. Er ist vom 31.01.2024 bis zum 30.01.2026 gültig). In naher Zukunft ist demnach nicht mit einer Anspannung der Wohnungsmarktsituation in Sachsen-Anhalt zu rechnen. Für die Stadt Magdeburg gilt noch die alte Kappungsgrenze von 20 % innerhalb von 3 Jahren für die zukünftige Vermietung sobald die Erstvermietung erfolgte. Am 01.01.2019 ist eine Verschärfung der Mietpreisbremse in Kraft getreten. Das „Gesetz zur Ergänzung der Regelungen über die zulässige Miethöhe bei Mietbeginn und zur Anpassung der Regelungen über die Modernisierung der Mietsache Mietrechtsanpassungsgesetz – MietAnpG“ BGBL. I S. 2648 vom 21.12.2018). Ein wesentlicher Punkt ist eine Reduzierung der umlagefähigen Modernisierungskosten von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21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22 11 % auf 8 % p.a. sowie die damit verbundene Einführung einer weiteren Kappungsgrenze von 3,00 €/m² innerhalb von 6 Jahren. Ferner wurde eine Auskunft über den Vormieter eingeführt und der Mieterschutz bei Weitervermietung zu sozialen Zwecken gestärkt. Da es sich im vorliegenden Fall aber um die grundlegende Modernisierung von leerstehenden Wohnungen und deren erstmalige Neuvermietung handelt, werden diese von der Neuregelung nicht tangiert. Das Gesetz zur Reform des Mietspiegelrechts (Mietspiegelreformgesetz-MsRG) vom 10.08.2021 wurde am 17.08.2021 veröffentlich (BGBl 2021 Teil I S. 3515) und ist mit Wirkung zum 01.07.2022 in Kraft getreten. Das Gesetz sieht künftig Mietspiegel für alle Städte und Gemeinden mit mehr als 50.000 Einwohnern vor. Für die Erstellung sind die nach Landesrecht zuständigen Behörden verantwortlich. Gebietskörperschaften der genannten Größe ohne Mietspiegel haben bis spätestens 01.01.2023 Zeit, einen Mietspiegel zu erstellen und zu veröffentlichen. Für die Erarbeitung eines qualifizierten Mietspiegels gilt eine verlängerte Übergangsfrist bis zum 01.01.2024. Dabei ist es den verpflichteten Kommunen freigestellt, ob sie die ortübliche Vergleichsmiete mittels eines einfachen oder qualifizierten Mietspiegels offenlegen. Insofern wird es auch weiterhin zwei Arten von Mietpreisübersichten geben. Daneben werden mit der Mietspiegelrechtsreform einheitliche Mindeststandards zur Mietspiegelerstellung eingeführt, wobei die Anforderungen an einfache Mietspiegel niederschwelliger sind. Eine weitere Neuerung im Mietspiegelrecht ist die Auskunftspflicht von Mietern und Vermietern. Sie müssen demnächst auf Verlangen zwingend Informationen über ihr Mietverhältnis und die Merkmale ihrer Wohnung erteilen und im Fall einer Verweigerung mit einem Bußgeld rechnen. Um die Datengrundlage darüber hinaus zu verbessern, erhalten die verantwortlichen Behörden bzw. die von ihnen beauftragten Institute mehr Befugnisse zur Verarbeitung vorhandener Daten aus anderen Stellen. Darunter fallen etwa Daten aus dem Melderegister, bei der Verwaltung der Grundsteuer bekannt gewordene Daten sowie Daten aus der Gebäudeund Wohnungszählung des Zensus. Mit der Festlegung von neuen Erhebungskriterien gehen jedoch keine Veränderungen der zeitlichen Gültigkeitsgrenzen einher. So bleibt es dabei, dass einfache Mietspiegel nach zwei Jahren an die Marktentwicklung anzupassen und qualifizierte Mietspiegel nach vier Jahren neu zu erstellen sind. Diese Thematik der zeitlichen Gültigkeitsgrenzen war im Vorfeld umstritten, da angedacht war Daten über einen längeren Zeitraum als 4 Jahre (angedacht waren ursprünglich 10 Jahre) einfließen zu lassen, was zu nicht unerheblichen Verzerrungen geführt hätte. Seit 01.01.2020 hat der Gesetzgeber einen Zeitraum von 6 Jahren bei der Datenerhebung angesetzt. Das Gesetz zur Neuregelung gesetzlicher Vorschriften zur Mietenbegrenzung (MietenWoG Bln) - sogenannter Mietendeckel - ist am 23. Februar 2020 in Kraft getreten und sollte in Berlin die Nettokaltmieten im preisfreien Wohnraum einfrieren. Mit dem Gesetz sollten die Mieten in der Hauptstadt für fünf Jahre nicht mehr steigen (Basis für die Mietberechnung war der Stichtag 18.06.2019). Das Bundesverfassungsgericht hat am 15.04.2021 das in Berlin geltende Gesetz zum Mietendeckel für nichtig erklärt. Zur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22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23 Begründung führte das Gericht aus, dass der Bund als Gesetzgeber das Mietpreisrecht im BGB bereits abschließend geregelt hat und aufgrund der Sperrwirkung des Bundesrechtes für die Gesetzgebungsbefugnis der Länder kein Raum bestünde (Beschluss vom 25.03.2021 Az.: 2 BvF 1/20 2 BvL 5/20, 2 BvL 4/20, veröffentlich am 15.04.2021). Es wird nunmehr Seitens der involvierten Gruppierungen die Frage aufgeworfen, ob der „Mietendeckel“ auf Bundesgesetzgebungsebene eingeführt werden soll. Das Ergebnis dieser Diskussion ist noch offen, es ist allerdings nicht auszuschließen, dass hier zukünftig gesetzgeberische Entscheidungen erfolgen werden. Es ist daher insgesamt festzuhalten, dass der Käufer die zukünftige Miete nach Erstvermietung nur unter bestimmten gesetzlich normierten Voraussetzungen und somit nur eingeschränkt erhöhen kann. Was die Bonität des Mieters betrifft, so wird diese anhand marktgängiger Vorgaben überprüft (sog. Selbstauskunftsformular mit Gehaltsnachweisen etc.). Dabei ist zu berücksichtigen, dass diese Kriterien sich im Laufe der Zeit (z.B. Arbeitsplatzverlust, Ehescheidung) negativ verändern können. Ferner dauert es, bis der Käufer einen neuen Mieter findet, denn auch der Vermietungsmakler braucht ab Bezugsfertigkeit eine gewisse Zeit, um einen geeigneten Mieter zu finden. Diese Suche kann sich unter Umständen über mehrere Monate hinziehen. Der Käufer muss dann sicherstellen, dass die nötigen finanziellen Mittel vorhanden sind, um diesen Zeitraum zu überbrücken. Der guten Ordnung halber sei darauf hingewiesen, dass durch die gesetzliche Neuregelung ab 01.06.2015 die Maklerkosten (im Fall einer Neuvermietung) regelmäßig den Vermieter treffen. 6. Immobilienmanagement Eine Immobilie muss bewirtschaftet werden. Die Qualität des Immobilienmanagements ist über die Jahre hinweg maßgeblich für die Bestandssicherung einer Immobilie und Grundlage für eine potentielle Wertsteigerung. Immobilienmanagement umfasst entsprechend der getroffenen vertraglichen Vereinbarungen die Verwaltung des Gemeinschaftseigentums sowie des Sondereigentums. a) Wohnungseigentümergemeinschaft (WEG) Durch den Erwerb der Eigentumswohnung und spätestens mit der Grundbucheintragung wird der Käufer kraft Gesetzes (Gesetz zur Förderung der Elektromobilität und zur Modernisierung des Wohnungseigentumsgesetzes und zur Änderung von kosten- und grundbuchrechtlichen Vorschriften Wohnungseigentumsmodernisierungsgesetz – WEMoG in der Fassung vom 16.10.2020 BGBL I S.2187 wurde das Gesetz über das Wohnungseigentum und das Dauerwohnrecht (Wohnungseigentumsgesetz – WEG) nachfolgend “WoEigG” genannt abgeändert) Mitglie d der Wohnungseigentümergemeinschaft. Dies bedeutet konkret, dass im Fall der fehlenden Leistungsfähigkeit von einzelnen Eigentümern die anderen Eigentümer der WEG diese Kosten mittragen müssen, zu ihren eigenen Verpflichtungen aus den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23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24 Miteigentumsanteilen somit hinzuzurechnen sind. Des Weiteren muss der Käufer sich darüber im Klaren sein, dass innerhalb der WEG Mehrheitsentscheidungen getroffen werden und er diese gegebenenfalls gegen sich gelten lassen muss, was ein gewisses Konfliktpotenzial in sich bergen kann. Sollte der Käufer der Auffassung sein, dass bestimmte Maßnahmen zum Wohl der Liegenschaft erforderlich sind (z. B. Reparatur oder Ersatz von Dach, Außenfassade, Treppenhaus, Wärmedämmverbundsysteme erneuern, gebäudetechnische Ausrüstungen teilweise austauschen), so werden diese nur umgesetzt, wenn die Mehrheit der Miteigentümer sich diesem Vorschlag im Rahmen einer Eigentümerversammlung anschließt und ein entsprechender Beschluss gefasst wird, sodass dann der WEG-Verwalter mit der Umsetzung beauftragt werden kann. b) WEG-Verwalter Bei der Liegenschaftsverwaltung des Gemeinschaftseigentums ergeben sich die Aufgaben und Pflichten des Verwalters nach dem WoEigG. Davon zu unterscheiden ist der für das Sondereigentum zuständige Mietverwalter, dessen Tätigkeit im Abschnitt „Konzeptionelle Gestaltung“ näher beschrieben wird. Eine Liegenschaft muss erkennbar in einem geordneten und funktionsfähigen Zustand sein. Dies beginnt bereits mit der regelmäßigen Prüfung des baulichen Zustandes durch die Hausverwaltung und dem damit verbundenen Erfordernis von Verbesserungs- und Instandhaltungsvorschlägen und deren Umsetzung. Gleiches gilt für die Hege und Pflege der Außenanlagen. Die WEG-Verwaltung kümmert sich sofern nötig auch mittels anwaltlicher Unterstützung darum, dass die erforderlichen Hausgelder durch die Eigentümer gezahlt werden, damit dann die Versorger und andere Kostenpositionen gezahlt werden können. Sie sorgt dafür, dass die organisatorischen Rahmenbedingungen für die Eigentümerversammlungen gegeben sind, bereitet Beschlüsse vor, erstellt Wirtschaftspläne für die Verwaltung und rechnet die Mittelverwendung ab. Dabei ist es seine Aufgabe als effizienter WEG-Verwalter für eine einheitliche Beschlussfassung aller Mitglieder der Eigentümergemeinschaft zu sorgen. Zusammenfassend kann gesagt werden, dass der Gesamtzustand der Liegenschaft wesentlich durch die Tätigkeit des WEG-Verwalters geprägt wird und ohne funktionierende Verwaltung die Gefahr besteht, dass es zur Wertminderung kommen kann. Bei der Liegenschaft {{PROJEKT_TYP}} {{PROJEKT_ADRESSE}} in {{PROJEKT_PLZ_STADT}} wird voraussichtlich das Unternehmen Firma {{VERWALTER_NAME}} (geschäftsansässig: {{VERWALTER_STRASSE}}, 39104 Magdeburg) zum jeweils ersten WEGVerwalter bestellt. Die monatliche Vergütung des WEG-Verwalters beträgt derzeit 19,99 € je Wohnungseigentum inkl. der jeweils gesetzlichen Umsatzsteuer in der derzeit gültigen Fassung (19 %). Diese Kosten muss der Käufer in seine Rentabilitätsvorschau aufnehmen, da die WEG-Verwaltungskosten grundsätzlich nicht auf die Mieter umgelegt werden können. Weitere Ausführungen zu den Verwaltungskosten befinden sich auch im Abschnitt konzeptionelle Gestaltung.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24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25 c) Sondereigentumsverwaltung Das Unternehmen {{VERWALTER_NAME}} offeriert dem Käufer die Möglichkeit, die Verwaltung des Sondereigentums auf sie zu übertragen. Dies setzt allerdings eine konkrete individuelle Vereinbarung zwischen den Parteien voraus. Pro Wohnungseigentum sind dann derzeit monatlich 19,99 € inkl. der gesetzlichen Umsatzsteuer in der derzeit gültigen Fassung (19 %) zu zahlen. Dem Käufer steht es frei, dieses kostenpflichtige Angebot anzunehmen oder sich eines Dritten als Sondereigentumsverwalter zu bedienen oder selber die Verwaltung seiner Eigentumswohnung zu übernehmen. Falls er sich für die Sondereigentumsverwaltung entschließt, muss er die dabei entstehenden nicht umlagefähigen Kosten in seine Finanzplanung einbeziehen. Unter dem Gesichtspunkt der sorgfältigen Prüfung des Sachverhaltes muss der Käufer das Mietausfall- und Leerstandsrisiko bei seiner Planung mit berücksichtigen, denn ohne Abschluss eines Sondereigentumsverwaltungsvertrages muss er sich allein und auf eigene Kosten um das Mietinkasso kümmern, die Angemessenheit der Mietnebenkostenvorauszahlungen und Mietnebenkostennachzahlungen prüfen und die Durchsetzung der Nachforderungen in die Wege leiten, erforderliche Neuvermietungsaktivitäten starten oder die Kosten für Inserate/Internetwerbung oder gegebenenfalls eines externen Maklers eventuell tragen und den Rechtsweg beschreiten, wenn der Mieter nicht zahlt, um mittels Zahlungs- und Räumungsklage seine Rechte zu wahren. Die für die Vollstreckung entstehenden Kosten und die Risiken obliegen ihm sowohl bei der eigenen SE-Verwaltung als auch bei der durch Dritte durchgeführten SEVerwaltung. Aufgrund der unterschiedlichen Fertigstellung der einzelnen Wohnungen innerhalb der Immobilie kann auch der Mietvertragsbeginn variieren. In jedem Fall hat der Käufer bereits ab Übergabe der Wohnung die Bewirtschaftungskosten zu tragen und damit insbesondere auch die Hausgelder zu zahlen, auch wenn zu dieser Zeit aufgrund Leerstandes noch keine Mieteinnahmen vorhanden sein können. d) Mietnebenkostenpauschale Mit § 556 Absatz 2 Satz 1 BGB hat der Gesetzgeber die Möglichkeit geschaffen, dass Vermieter sich zwischen einer Vorauszahlung oder einer Pauschale für die Nebenkosten frei entscheiden können. Eine Mietnebenkostenpauschale ist ein fester monatlicher Betrag, den Mieter zusätzlich zur Kaltmiete an den Vermieter zahlt, um alle oder bestimmte Nebenkosten (auch Betriebskosten genannt) abzudecken. Im Gegensatz zur Nebenkostenvorauszahlung, bei der eine jährliche Abrechnung erfolgt, entfällt bei der Pauschale eine solche aufwändige und komplexe Abrechnung für den Vermieter. Nachzahlungen oder Rückzahlungen sind ausgeschlossen. Es ist daher zu berücksichtigen, dass bei erhöhten tatsächlichen Kosten keine Nachforderungen an den Mieter gestellt werden können. Sollten die Kosten hingegen niedriger sein, muss ein Überschuss nicht an den Mieter ausgezahlt werden. Gemäß einem Urteil des Bundesgerichtshofes besteht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25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26 keine Verpflichtung des Vermieters dem Mieter offenzulegen, wie er die Kosten für die Pauschale kalkuliert hat (BGH Urteil vom 16.11.2011 Az.: VIII ZR 106/11). Gleichermaßen muss der Vermieter nicht offenlegen, wie hoch die Kosten tatsächlich ausgefallen sind. Im vorliegenden Fall wird eine Nebenkostenpauschale von 4,00 €/m² (inkl. Strom) angesetzt. Da wir es hier mit einem KfW Effizienzhaus 40 Klimafreundlicher Neubau mit QNG zu tun haben, ist davon auszugehen, dass die Energieeinsparung so angemessen ist, dass die Nebenkostenpauschale von 4,00 €/m² ausreichend ist. Damit diese Regelung anwendbar ist, muss im Mietvertrag ausdrücklich die Vereinbarung einer Nebenkostenpauschale erfolgen. Alles andere (oder die Vermischung mit dem Begriff der Nebenkostenvorauszahlung) wäre schädlich und würde im Streitfall zu Gunsten des Mieters greifen. 7. Erhaltung des Immobilienwertes Jede Immobilie bedarf der regelmäßigen Wartung und angemessenen Instandhaltung. Der Käufer muss daher bei seiner Planung berücksichtigen, dass eine finanzielle Vorsorge für zukünftig notwendig werdende Instandhaltungen/-setzungen durch Rücklagenbildung der Eigentümergemeinschaft erfolgen muss. Die diesem Angebot zugrunde liegende Teilungserklärung beinhaltet die regelmäßige monatliche Einzahlung einer Instandhaltungsrücklage. Die Höhe der Zahlung in die Instandhaltungsrücklage wird dabei durch die Wohnungseigentümergemeinschaft im Rahmen der Eigentümerversammlung festgelegt und kann sich jährlich ändern (Erhöhung aber auch Ermäßigung). Die ausreichende Bemessung obliegt daher ausschließlich den Eigentümern (Käufern) und ist nicht im Verantwortungsbereich der Verkäuferin angesiedelt. Die Instandhaltungsrücklage dient dazu, zukünftig anfallende Instandsetzungen am Gemeinschaftseigentum (z. B. Dach, Außenfassade, Treppenhaus, Heizungsanlage etc.) durch die angesparten Gelder der Eigentümergemeinschaft ganz oder teilweise zu bezahlen. Aufgrund der Neuerrichtung der Eigentumswohnungen fallen in den Anfangsjahren üblicherweise geringere Ausgaben an, so dass die vorgesehene Instandhaltungsrücklage zunächst nicht angegriffen werden muss und ein sukzessiver Aufbau erfolgt. Damit wird eine Reserve geschaffen, die zur Finanzierung später anfallender Instandhaltungsaufwendungen dient. Die verzinsliche Anlage dieser Gelder bis zum Zeitpunkt der Verwendung unterliegt der Kapitalertragsteuer. Als Kalkulationsbasis sind im vorliegenden Angebot anfängliche monatliche Einzahlungen der Käufer in die Instandhaltungsrücklage mit pauschal monatlich 0,30 €/m² vorgesehen. Ob diese Beträge zukünftig ausreichend sein werden, kann nicht abschließend quantitativ oder qualitativ beurteilt werden, da es bei einzelnen Gewerken unterschiedlich lange Verschleißzeiten gibt und die Berechnung der Instandhaltungsrücklagenhöhe nicht auf der Basis der Restnutzungsdauer der Verschleißteile erstellt wird. Insoweit muss gegebenenfalls eine Erhöhung der Instandhaltungsrücklage beschlossen werden oder diese zusätzlichen Kosten werden im Wege der Sonderumlage an die einzelnen Wohnungseigentümer weitergegeben. Erfahrungsgemäß ist davon auszugehen, dass innerhalb eines Zyklus von 25 bis 40 Jahren ab Errichtung eine grundlegende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26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27 Modernisierung/Erneuerung des Wohngebäudes erforderlich werden wird. Es kann daher passieren, dass bereits ab dem 25. Jahr bzw. früher nicht unerhebliche zusätzliche finanzielle Mittel für die Modernisierung und Instandhaltung der Immobilie und der technischen Anlagen zur Verfügung gestellt werden müssen. Gleiches gilt auch, wenn durch Gesetzesänderungen neue Vorgaben für die Technik umzusetzen sind. Auch weitere Anpassungen an die künftigen Bedürfnisse und Wünsche der Mieter im Rahmen des Sondereigentums können Modernisierungsmaßnahmen nach sich ziehen (z. B. bezüglich höherwertiger Ausstattung, verbesserte Wohnungsgrundrisse, Multimediatechnik für die gesamte Wohnung). Diese Kosten sowie Reparaturkosten können grundsätzlich nicht zu Lasten der Instandhaltungsrücklage bezahlt werden, sondern müssen vom Käufer im Rahmen seiner Finanzplanung berücksichtigt werden. Insofern kann es dem Käufer zum Vorteil gereichen, wenn er auch bezüglich seines Sondereigentums ausreichende Rücklagen bildet, da es abhängig vom Zustand bei Übergabe der Wohnung im Zuge eines Mieterwechsels zu erhöhten Kosten kommen kann (nicht nur unterstellte Schönheitsreparaturen). 8. Finanzierung Eine Immobilienfinanzierung erfolgt, wenn keine öffentliche Förderung besteht, aus zwei Finanzierungsbausteinen, nämlich dem Eigenkapital und dem Fremdkapital. Dabei sind als wesentliche Kosten neben dem Kaufpreis (einschließlich Projektierungs-, Marketing- und Vertriebskosten) die Erwerbsnebenkosten (Notar- und Grundbuchkosten sowie Grunderwerbssteuer) sowie erforderliche Zwischenfinanzierungskosten (z. B. für die Zeit der ersten Ratenzahlung ab Erwerb bis hin zur Neuvermietung) im Gesamtinvestitionsvolumen zu berücksichtigen. a) Fremdfinanzierung Für die Finanzierung des Kaufgegenstandes sind aus Sicht des kreditgebenden Institutes mehrere Faktoren wichtig. Zum einen kommt es auf die Werthaltigkeit des Beleihungsobjektes an, da die Immobilie als Sicherheit für den Kredit dienen soll. Dazu kommt dann das erforderliche Eigenkapital, welches der Käufer im Rahmen der Kaufpreisfinanzierung darstellen kann. Die Höhe des erforderlichen Eigenkapitals richtet sich dabei nach den Vermögensverhältnissen des Käufers, die er gegenüber der Bank offenlegen muss (Bonität). Die erforderliche Fremdfinanzierung des Immobilienkaufs erhöht die Investitionskosten. Der Käufer muss ab einem im Darlehensvertrag vereinbarten Zeitpunkt Bereitstellungszinsen zahlen (bis das gesamte Darlehen ausgezahlt wurde), die monatlich anfallenden Kreditzinsen, die Bearbeitungsgebühren der Bank, ggf. das Disagio, eventuell Lebensversicherung und/oder Bausparverträge als Möglichkeit der Darlehenstilgung und eventuell Gebühren für die eingebundenen Finanzierungsvermittler tragen. Die Summen dieser Finanzierungskosten können dazu führen, dass die vom Käufer erwarteten steuerlichen Vorteile ganz oder teilweise aufgebraucht werden und die laufenden Mieteinnahmen nicht oder nur zum Teil ausreichen, so dass der Käufer das Risiko einer zu hohen Belastung aus der Fremdfinanzierung trägt.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27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28 b) Anschlussfinanzierung Aufgrund des Umstandes, dass die Finanzierungen grundsätzlich zeitlich befristet sind, sind damit auch die einzelnen Konditionen (Zins und Tilgung) zeitlich befristet. Nach Fristablauf muss sich der Käufer um eine Anschluss-/Neufinanzierung bemühen. Da die zu diesem Zeitpunkt geltenden Konditionen von den heutigen Konditionen sowohl positiv als auch negativ abweichen können, muss sich der Käufer dieses Risikos bewusst sein. Dazu kommen neuerliche Vertragsabschlusskosten (z. B. Bearbeitungsgebühren etc.). Summiert betrachtet kann dies bedeuten, dass sich die Liquiditätsplanung in jedem Fall verändern wird und dies kann eine Verbesserung aber auch Verschlechterung im Verhältnis zu den vorhandenen Mieteinnahmen darstellen. Bei zu geringer Tilgung kann es sein, dass die Bewertung der Immobilie niedriger ausfällt als der Valutenstand. In diesem Falle ist bei unzureichender Bonität Eigenkapital nachzuschießen. Ferner muss sich der Käufer darüber bewusst sein, dass das Immobilieninvestment aufgrund seiner Langfristigkeit auch durch die persönlichen Lebensumstände mitgeprägt wird und dies im Rahmen einer zukünftig erforderlichen Anschlussfinanzierung zum Tragen kommen kann. Sowohl das Alter des Käufers, sein Arbeitsverhältnis, die Laufzeit der Finanzierung als auch di e Nachhaltigkeit der Vermietungsphase oder die Eigennutzung spielen dabei einzeln und/oder kombiniert eine Rolle. Soweit der Käufer seine Eigentumswohnung durch ein Bankdarlehen finanziert hat, haftet er persönlich für die fristgerechte Bedienung von Zinsen und die Tilgung seines Darlehens, unabhängig vom Vermietungsstand seiner Wohneinheit. c) Kreditzusage Für die Fremdfinanzierung des Immobilienkaufs bedarf der Käufer einer Kreditzusage eines Kreditinstitutes. Die der Erteilung einer solchen Kreditzusage vorausgehende Prüfung ist seit März 2016 aufgrund der EU-Verbraucherkreditrichtlinie an strengere Auflagen geknüpft. So wird weniger auf den Wert der Immobilie als vielmehr auf das nachhaltige Einkommen des Erwerbers abgestellt. Zudem muss während der statistischen Lebenserwartung des Erwerbers eine Tilgung des Darlehens über die Raten möglich sein. Dies kann dazu führen, dass eine Finanzierung nicht erfolgt, obgleich durch die monatlich durch die Immobilie erzielten Einnahmen Zins und Tilgung abgedeckt sind. Der Gesetzgeber hat dieses Problem erkannt und hat das Gesetz zur Ergänzung des Finanzdienstleistungsaufsichtsrechts im Bereich der Maßnahmen bei Gefährdung der Stabilität des Finanzsystems und zur Änderung der Umsetzung der Wohnimmobilienkreditrichtlinie (Finanzaufsichtsrechtsergänzungsgesetz in BGBL I 2017, 1495), welches am 10.06.2017 in Kraft getreten ist. Wichtigste Neuerungen dieses Gesetzes sind u.a. die Festlegung bestimmter Mindeststandards durch die Bundesanstalt für Finanzdienstleistungsaufsicht (BaFin). Es werden zwei neue Instrumente geschaffen: Das Verhältnis zwischen Immobilienwert zum Darlehen. Dies bedeutet zukünftig, dass die BaFin eine maximale Beleihungshöhe erlässt, bis zu welcher Höhe Immobilien beliehen werden dürfen. Ferner gibt es zukünftig eine Vorgabe einer Mindesttilgung bzw. eines Zeitraums in dem ein bestimmter Bruchteil des Darlehens zurückgezahlt sein muss. Durch diese Neuregelung werden zukünftig die strengeren Auflagen aus 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28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29 Verbraucherkreditrichtlinie teilweise wieder revidiert. Sollte der Käufer gleichwohl vor verbindlichem Abschluss einer Finanzierung den Kaufvertrag unterzeichnen, so besteht das Risiko, dass er nicht über die notwendigen Mittel verfügt, um den Grundstückskaufpreis zu bezahlen. Damit kann es dazu kommen, dass die Verkäuferin aufgrund der Kaufpreisfälligkeit die Bezahlung verlangt und sie im Fall der Nichterfüllung in das sonstige Vermögen des Käufers vollstreckt, was zu dessen Vermögensverfall führen kann. Weiterhin ist darauf hinzuweisen, dass mit Abschluss des Kreditvertrages auch ohne Abnahme des Darlehens erhebliche Kosten entstehen können (Nichtabnahmeentschädigung). Zusammenfassend ist festzuhalten, dass jede Finanzierung der individuellen Anpassung an die persönlichen Möglichkeiten des Käufers bedarf, damit Chancen und Risiken adäquat abgebildet werden. Dem Käufer wird daher seitens der Verkäuferin empfohlen, sich mehrere Finanzierungsangebote einzuholen. d) KFW-Förderung Die Verkäuferin weist darauf hin, dass für die Inanspruchnahme von KfW-Fördermitteln die Beauftragung eines Sachverständigen zwingend erforderlich ist und empfiehlt die Beauftragung folgenden Sachverständigen: ITG Energieinstitut GmbH Sabine Faulbaum Josef-von-Fraunhofer-Str. 2 39106 Magdeburg E-Mail s.faulbaum@itg-energie.de Fax (0391) 544 342 – 99. Die Kosten für die KfW-Bestätigung zum Antrag sowie die KfW-Bestätigung nach Durchführung in Höhe von 490,-€ inkl. MwSt. werden direkt zwischen ITG Energieinstitut GmbH und Käufer abgerechnet. Die Verkäuferin empfiehlt dem Käufer weiter, sich im Einzelnen über die aktuellen Förderrichtlinien der KfW , die einzuhaltenden Formen und Fristen für Anträge zu unterrichten und beraten zu lassen. Sie weist darauf hin, dass ab dem 1. August 2015 aufgrund der von der KfW geforderten energetischen Baubegleitung der Energieberater Überprüfungen vor Ort vornehmen muss, wodurch zusätzliche Kosten entstehen. Diese Kosten sind nicht im Kaufpreis enthalten. Auf Grund der Praxis der KfW , die Bedingungen ihrer Förderrichtlinien regelmäßig zu ändern und zu erhöhen, kommt in Betracht, dass die Bedingungen bereits zum Zeitpunkt dieses Vertragsschlusses nicht mehr gültig sind. Die Verkäuferin übernimmt daher ausdrücklich keine Gewähr dafür, dass die Bedingungen für die Inanspruchnahme von zinsvergünstigten Darlehen und/oder Zuschüssen der KfW oder anderer Förderinstitute vorliegen. Für weitere Informationen steht es dem Käufer frei, sich mit dem für das Projekt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29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30 verantwortlichen Energiegutachterin Frau Faulbaum in Verbindung zu setzen. Der Käufer nimmt dies zur Kenntnis und erklärt sein ausdrückliches Einverständnis hierzu. Weitere Ausführungen zu dieser Thematik KfW-Förderung sind auch den Abschnitten „steuerliche Gestaltung“ und „konzeptionelle Gestaltung“ zu entnehmen. 9. Steuerliche Aspekte Die Verkäuferin ist in eigenem Namen und auf eigene Rechnung tätig und es erfolgt keine steuerliche Geltendmachung von Abschreibungen für den Kaufgegenstand durch den Verkäufer. Gleichwohl hat sich die Verkäuferin – ohne rechtliche Gewähr für den Erfolg bereit erklärt, den Käufer bei der Beschaffung der für die steuerliche Anerkennung erforderlichen Unterlagen zu unterstützen. Bei der Wertermittlung von wohnwirtschaftlich genutzten Immobilien wird unterschieden zwischen Neubauten, Bestandsimmobilien (gebrauchte Objekte) und Immobilien mit potentiellen Sonderabschreibungsmöglichkeiten (z.B. Sanierungsobjekte). Da es sich im vorliegenden Fall um eine Neubauimmobilie aus den Jahren 2026/2027 handelt, kommen in diesem konkreten Fall die normale linearen AfA (Absetzung für Abnutzung) in Höhe von 3,0 % oder die Geltendmachung der degressiven Afa nach § 7 Abs. 5a EStG und die Sonderabschreibung nach § 7b EStG für Mietwohnungsneubau in Betracht sowie eine KfW-Förderung in Betracht (vgl. auch ausführlich die Erläuterungen im Abschnitt steuerliche Gestaltung). b) Einkünfte aus Vermietung und Verpachtung Bei einer Vermietung des Sondereigentums durch den Käufer (Privatperson), erzielt dieser steuerliche Einkünfte aus Vermietung und Verpachtung im Sinne des § 21 EStG. Aufgrund der getätigten Investitionen (Anschaffungskosten) für den Ankauf kann der Käufer bestimmte Teile der verauslagten Gelder entweder sofort als Werbungskosten oder über die Haltdauer der Immobilie in Form von Abschreibungen (AfA) steuerlich geltend machen. Dies führt grundsätzlich zu einer Senkung des zu versteuernden Einkommens. Eine Berücksichtigung der AfA im Lohnsteuerabzugsverfahren kann jedoch frühestens im Jahr nach dem Ankauf (Übergang Besitz/Nutzen/Lasten) erfolgen. Allerdings kann sich der Anerkennung im Einzelfall bisweilen verzögern. Nähere Erläuterungen zu den steuerlichen Aspekten finden sich im Abschnitt „Steuerliche Grundlagen“. Ein Immobilieninvestment darf nicht im Hinblick auf die Umsetzung steuerlicher Vorteile erfolgen und die Liquiditätsplanung darf nicht auf der Ziehung selbiger beruhen, sondern muss berücksichtigen, dass auch entsprechende Einkommensverhältnisse gegeben sein müssen, um überhaupt die steuerlichen Vorteile realisieren zu können. Ob dies überhaupt der Fall sein kann, hängt nahezu ausschließlich von den steuerlichen Gegebenheiten des Einzelfalles auf Seiten des Käufers ab, so dass an dieser Stelle dazu keine verbindlichen Aussagen gemacht werden können. Auf jeden Fall ist ratsam, bereits im Vorfeld einer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30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31 Investitionsentscheidung für eine Immobilie steuerlichen Rat von einem Fachmann einzuholen. c) Wandel der Steuergesetzgebung Wie die gesamte Gesetzgebung und Rechtsprechung einem ständigen Wandel und Anpassungen unterliegen, so gilt dies auch für die Steuergesetze und Rechtsverordnungen sowie die Rechtsprechung der Finanzgerichtsbarkeit und die Ausführungspraxis der Finanzämter. Dies bedeutet, dass die zum Zeitpunkt der Prospektherausgabe geltenden Regelungen sich jederzeit ändern können und es keine Gewähr dafür gibt, dass sie in unveränderter Form fortbestehen bleiben. Der Kaufvertrag beruht insoweit auf Prognosen, was die angegebenen Werte betrifft, die nicht zwingend deckungsgleich mit den Wertungen der Finanzbehörden sein müssen. Die Verkäuferin hat aber ihre Vertragsgestaltung nach der jeweils zum Zeitpunkt des Abschlusses geltenden Praxis der Finanzbehörden ausgerichtet. Gleichzeitig wird darauf hingewiesen, dass erhöhte Abschreibungen in der Regel beim Weiterverkauf entfallen, was sich auf die Höhe des zu erzielenden Kaufpreises negativ auswirken kann. Der Prospekt wurde mit Unterstützung von Fachleuten erstellt, die die zum Zeitpunkt der Herstellung bestehende Rechtslage und deren Auswirkungen auf die steuerliche Seite der Immobilientransaktion beurteilten. Diese Einschätzungen können aber nicht die abschließende Beurteilung durch das Finanzamt ersetzen. Unterschiedliche Interpretationen des gleichen Sachverhaltes sind daher möglich. Die in diesem Prospekt unter dem Abschnitt „Steuerliche Gestaltung“ enthaltenen Angaben zu den steuerlichen Auswirkungen erläutern nur die grundsätzlich denkbaren Rahmenbedingungen und stellen auch keinen Fall der steuerlichen Beratung dar. Der Käufer sollte in jedem Fall vor Kaufvertragsabschluss mit seinem Steuerberater seine persönliche Besteuerungssituation und die daraus resultierenden Vor- und Nachteile des Immobilienengagements erörtern. Weder die Verkäuferin noch ein involvierter Vermittler können daher eine Haftung für die vom Käufer möglicherweise mit dieser Transaktion verfolgten steuerlichen Ziele übernehmen. 10. Kombination von Vor- und Nachteilen Grundsätzlich stellt der vorliegende Prospekt die Vor- aber auch Nachteile eines wohnwirtschaftlichen Immobilieninvestments dar . Es ist aber erforderlich, dass sich der Käufer mit beiden Aspekten angemessen auseinandersetzt und nicht nur einseitig die Vorteile sieht und die Nachteile ignoriert. Da sich Lebenssachverhalte unterschiedlich entwickeln können, kann es zu Ausnahmesituationen kommen, bei denen verschiedenartige Risiken auch in Kombination auftreten (z. B. Arbeitslosigkeit, längerer Wohnungsleerstand, Modernisierungsstau, Sonderumlagen wegen säumiger Miteigentümer und teure Instandhaltungsmaßnahmen, erhöhte Renovierungskosten im Sondereigentum, ohne ausreichende Rücklagen,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32 Probleme mit einer teuren Anschlussfinanzierung oder deren grundsätzlicher Gewährung). Sollten sich diese Risiken ganz oder teilweise realisieren und die sonstige Vermögenslage bietet keine ausreichenden Reserven, so kann dies über Vermögensverluste bis im schlimmsten Fall hin zum Vermögensverfall beim Käufer führen. Des Weiteren ist anzumerken, dass es auch den Fall des sog. „Totalverlustes“ geben kann, wenn der Käufer den Kaufpreis vor lastenfreier Eigentumsverschaffung bereits an den Verkäufer gezahlt hat und dann Gläubiger der Verkäuferin das Wohnungseigentum versteigern könnten. Ein weiterer Fall wäre dann gegeben, wenn der Kaufpreis ohne vorherige ranggerechte Eintragung einer Auflassungsvormerkung zu Gunsten des Käufers ausgezahlt werden würde. Beide Fallkonstellationen setzen ferner voraus, dass dann der zuständige Notar bzw. weitere Verfahrensbeteiligte nicht in Regress genommen werden können und damit der Käufer dann den Verlust tragen müsste. Eine andere Konstellation wäre die Zwangsversteigerung im Fall der Fremdfinanzierung mit einem merkantilen Mindererlös, so dass der Käufer schlimmstenfalls sogar noch für die Differenz haftet. Ein Totalverlust könnte auch eintreten, wenn die Liegenschaft durch Feuer o. ä. zerstört werden würde und keine entsprechende Versicherungsleistung zum Ausgleich zur Verfügung stünde. Ferner ist immer zu bedenken, dass die vorstehenden Ausführungen zu Vor- und Nachteilen nicht abschließend sein können und lediglich die am häufigsten nach Einschätzung der Verkäuferin/Prospektherausgeberin auftretenden Aspekte berücksichtigen. Alles andere würde den Rahmen der gebotenen Information sprengen. Da im vorliegenden Prospekt sowohl tatsächlich als auch rechtlich komplexe Lebenssachverhalte erörtert werden, die auch nicht statisch, sondern einem kontinuierlichen Wandel unterworfen sind, kann es immer wieder passieren, dass einzelne Details nicht erfasst werden, die aber für die Anlageentscheidung des Käufers und seiner Abwägung aller Vor- und Nachteile maßgebend sind. Soweit insofern weitere Fragen auftauchen steht die Verkäuferin dem Käufer gerne, soweit ihr möglich, zur gewissenhaften Beantwortung zur Verfügung. Unabhängig von dem offenen und transparenten Umgang miteinander, der durch diesen Prospekt gefördert wird, entbindet dies daher nicht von der individuellen Beratung, Prüfung, Information, Aufklärung und Empfehlung durch eine fachkundige Person Ihres Vertrauens (beispielsweise Rechtsanwalt oder Steuerberater) vor Vertragsabschluss.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32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33 Konzeptionelle Gestaltung Objekt „{{PROJEKT_TYP}}“ – {{PROJEKT_ADRESSE}}, {{PROJEKT_PLZ_STADT}}, Stand {{PROSPEKT_DATUM}} Der vorliegende Prospekt beinhaltet das notarielle Kaufvertragsangebot zum Erwerb von Wohnungseigentum nach Wohnungseigentumsgesetz (WoEigG) von insgesamt {{ANZAHL_WE}} Eigentumswohnungen in einem neu errichteten Mehrfamilienhaus auf dem Areal der {{PROJEKT_AREAL}}, {{PROJEKT_ADRESSE}}, {{PROJEKT_PLZ_STADT}}. Alle Wohnungen im Erdgeschoss auf der Ostseite verfügen über Terrassen mit dazugehörigen Gartenanteilen. Die Wohnungen im Erdgeschoss auf der Westseite und in den Obergeschossen verfügen über Balkone. Optional besteht die Möglichkeit, Außenstellplätze auf dem Areal zu erwerben. Zunächst wird der notarielle Bauträgerkaufvertrag nebst Verweisurkunde insbesondere Teilungserklärung UVZ-NR. 2175/2023 vom 19.12.2023 und Ergänzung zur Teilungserklärung UVZ-NR. 1144/2025 vom {{VERWEISURKUNDE_DATUM}} des Notars {{NOTAR_NAME}} (geschäftsansässig: Humboldtstraße 2, 39112 Magdeburg) als Anlage über die Eigentumswohnung direkt zwischen den Vertragsparteien abgeschlossen. Während der notarielle Bauträgerkaufvertrag die konkreten Vertragskonditionen beinhaltet, befinden sich in der Anlage zum Bauträgerkaufvertrag (Verweisurkunde) die generellen Erläuterungen zu der Eigentumswohnung (Teilungserklärung nach § 8 WoEigG nebst Gemeinschaftsordnung sowie die Bau- und Leistungsbeschreibung für den Neubau). Des Weiteren gibt es einen bereits bezüglich der Konditionen endverhandelten Verwaltervertrag für das Gemeinschaftseigentum, in welchen der Käufer eintritt. Ferner wird dem Käufer, falls er die Wohnung nicht zur Eigennutzung erwirbt, die Möglichkeit eingeräumt, mit der Hausverwaltung einen Mietverwaltervertrag für sein Sondereigentum abzuschließen. Im Anschluss erfolgt eine summarische Darstellung der wesentlichen Vertragsinhalte. Die auf den jeweiligen einzelnen Käufer angepassten Verträge werden dem Kaufinteressenten mit ausreichender Prüfungszeit vor dem Beurkundungstermin überlassen. 1. Notarieller Abschluss eines Bauträgerkaufvertrages a) Vertragsabschluss Im Rahmen der konzeptionellen Gestaltung schließen die Verkäuferin, die {{ENTWICKLER_NAME}} und der Käufer einen notariellen Bauträgervertrag über eine (oder mehrere) noch zu errichtende Eigentumswohnung (von insgesamt 104 Einheiten) in dem neu zu errichtenden Mehrfamilienhaus auf dem Areal der {{PROJEKT_AREAL}} {{PROJEKT_ADRESSE}} . in {{PROJEKT_PLZ_STADT}}. Sollte die Verkäuferin nicht persönlich zu</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33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34 dem Beurkundungstermin beim beurkundenden Notar kommen können, so wird der Vertrag mittels Vollmachtsbestätigung durch die Verkäuferin rechtsverbindlich. b) Aufschiebende Bedingung Die in diesem Vertrag vorgesehenen Verpflichtungen zur Leistungserbringung des Verkäufers dienen der Umsetzung eines Neubauvorhabens, für das der Käufer eine Förderung über das Programm „Klimafreundlicher Neu- bau“ (KFN) des Bundesministeriums für Wohnen, Stadtentwicklung und Bauwesen (BMWSB) bei der KfW ***beantragt hat. ALTERNATIV***???***innerhalb von …………… Tagen nach Vertragsschluss beantragen wird. Dieser Kaufvertrag tritt hinsichtlich der Umsetzung erst und nur insoweit in Kraft, wenn und soweit die KfW den Antrag zur Förderung eines Neubauvorhabens bewilligt und die Förderung mit einer Zusage gegenüber der antragstellenden Vertragspartei zugesagt hat (aufschiebende Bedingung). Der schuldrechtliche Teil dieses Vertrages steht daher unter der weiteren aufschiebenden Bedingung, dass die KfW den entsprechenden Antrag bewilligt und die Förderung gegenüber der antragstellenden Vertragspartei (Käufer) zugesagt hat. Die antragstellende Vertragspartei (Käufer) wird die jeweils andere Vertragspartei (Verkäufer) sowie den in § 16 genannten AbwicklungsNotar {{NOTAR_NAME}} in {{NOTAR_ADRESSE}} über den Eintritt der vorgenannten aufschiebenden Bedingung gem. Ziff. 2. unverzüglich in Kenntnis setzen. Alternativ hierzu reicht die Vorlage des von der BMWSB oder der KfW ausgestellten Darlehnsvertrages zugunsten des Käufers aus. Sollten die aufschiebenden Bedingungen bzgl. der Ziff. 1 nicht innerhalb von 4 Wochen u n d hinsichtlich der Ziff. 2. nicht innerhalb von 10 Wochen nach der heutigen Beurkundung des Vertrages eingetreten sein, gilt der Vertrag als unwirksam. Der Nachweis des Eintrittes der aufschiebenden Bedingungen sind gegenüber dem Grundbuchamt nicht zu erbringen. Die Vertragsbeteiligten haben ein Interesse, den Vollzug dieses Kaufvertrages alsbald zu erreichen und weisen den amtierenden Notar sowie den in § 16 genannten AbwicklungsNotar {{NOTAR_NAME}} in {{NOTAR_STADT}} hiermit an, den Kaufvertrag nach Vorliegen der Vollmachtsbestätigung in notarieller Form durch den Verkäufer bei dem amtierenden Notar sofort vertragsgemäß zu vollziehen, insbesondere die für die Fälligstellung des Kaufpreises erforderlichen Schritte vorzunehmen. Die vorgenannten Notare sollen daher den Eintritt der aufschiebenden Bedingung nicht abwarten. Die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34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35 damit verbundenen Kostenfolgen und Rückabwicklungserfordernisse beim Ausfall der Bedingungen sind den Vertragsbeteiligten bewusst. 2. Vertragsinhalt a) Grundstück Die Verkäuferin ist Eigentümerin des im Grundbuch von Magdeburg, Blatt 105721, Flur 273, Flurstücke 12306, 12308, 12309, 12312, 12313, 12334, 12476, 12493, 12494, 12496 und 12497 zur Größe von 2.626 m², 39 m², 3.288 m², 460 m², 856 m², 257 m², 2.356 m², 53 m², 23 m², 3 m² und 351 m² und eingetragen Grundbesitz mit einer Gesamtfläche von ca. 10.312 m² {{PROJEKT_ADRESSE}} in {{PROJEKT_PLZ_STADT}} (Areal der ehemaligen {{PROJEKT_AREAL}}). Im Bestandsverzeichnis ist zugunsten der Flurstücke 12306, 12308, 12312, 12313 und 12334 ein Herrschvermerk für eine Grunddienstbarkeit (Geh- und Fahrtrecht) eingetragen. Das Grundstück wurde zur Bildung von Wohnungseigentumseinheiten entsprechend der Teilungserklärung vom 19.12.2023 mit UVZ-NR. 2175/2023 gefertigt vom Notar {{NOTAR_NAME}} aufgeteilt. Der Neubaugrundstücksanteil wurde zur Bildung von Wohnungseigentumseinheiten entsprechend der Ergänzung zur Teilungserklärung vom {{VERWEISURKUNDE_DATUM}} mit UVZ-NR. 1144/2025 gefertigt vom Notar {{NOTAR_NAME}} neu aufgeteilt. Der Grundbesitz wird mit Vollzug der o.g. Teilungserklärungen wie folgt belastet sein: in Abteilung II: lfd. Nr. 1: Grunddienstbarkeit (Geh- und Fahrtrecht) lfd. Nr. 2: Grunddienstbarkeit (Wegerecht) lfd. Nr. 3: Beschränkte persönliche Dienstbarkeit (Strom-, Gas- und Trinkwasserversorgungsleitungsrecht) für die Städtische Werke Magdeburg GmbH &amp; Co. KG, Magdeburg Darüber hinaus beabsichtigt die Verkäuferin für den Betreiber der auf den Gebäudeteilen noch zu errichtenden Photovoltaikanlagen eine Dienstbarkeit für deren Betrieb sowie eine Vormerkung zur Absicherung eines künftigen Betreibers der Photovoltaikanlage zu bestellen. Diese künftig noch einzutragenden Rechte werden vom Käufer geduldet und als nicht wertmindernd übernommen. Sofern aufgrund von Vorgaben aus der Baugenehmigung oder zur Sicherung der Erschließung oder Versorgung bzw. Entsorgung oder zur Durchführung des Bauvorhabens noch weitere Baulasten und/oder Dienstbarkeiten zu Lasten der gemeinschaftlichen Flächen eingetragen werden müssen, verpflichtet sich der Käufer, die entsprechenden Erklärungen zu bewilligen. Sofern derartige Rechte vor dem Eigentumsübergang auf den Käufer noch von der Verkäuferin bewilligt werden, werden sie vom Käufer zur weiteren Duldung übernommen. Der Käufer erteilt der Verkäuferin Vollmacht, alle zur grundbuchlichen Eintragung solcher Vereinbarungen noch erforderlichen Rechtshandlungen vorzunehmen und Erklärungen abzugeben. Die Belastung bleiben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35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36 bestehen und ist in die einzelnen Wohnungsgrundbücher mit zu übertragen und werden vom Käufer als nicht wertmindernd übernommen. in Abteilung III lfd. Nr. 1: Buchgrundschuld in Höhe von 2.000.000,00 EUR für die Volksbank eG Braunschweig Wolfsburg in Wolfsburg lfd. Nr. 2: Buchgrundschuld in Höhe von 1.100.000,00 EUR für die Volksbank eG Braunschweig Wolfsburg in Wolfsburg lfd. Nr. 3: Buchgrundschuld in Höhe von 31.900.000,00 EUR für die Volksbank eG Braunschweig Wolfsburg in Wolfsburg lfd. Nr. 4: Buchgrundschuld in Höhe von 2.400.000,00 EUR für die Volksbank eG Braunschweig Wolfsburg in Wolfsburg Alle Grundpfandrechte sind spätestens mit Eigentumsumschreibung auf den Käufer auf Kosten der Verkäuferin zur Löschung zu bringen. Die Verkäuferin behält sich das Recht vor, zur Vorfinanzierung der Baukosten noch weitere Grundpfandrechte in beliebiger Höhe nebst Zinsen und Nebenleistungen vor einem Finanzierungsgrundpfandrecht des Käufers und der einzutragenden Vormerkung eintragen zu lassen, was der Käufer ausdrücklich gestattet und duldet. Der Anspruch des Käufers auf Lastenfreistellung aufgrund des notariellen Bauträgerkaufvertrages bleibt hiervon unberührt. Der Käufer erteilt in diesem Zusammenhang der Verkäuferin die Vollmacht, mit der für ihn eingetragenen Vormerkung hinter noch einzutragende Grundpfandrechte zurückzutreten und alle Erklärungen und Anträge gegenüber dem Grundbuchamt abzugeben, die erforderlich und zweckdienlich sind. Voraussetzung für den Gebrauch der Vollmacht ist, dass die Gläubiger Freistellungsverpflichtungserklärung oder Löschungsunterlagen gem. Makler- und Bauträgerverordnung (MaBV) erteilt haben, was dem Grundbuchamt nicht nachzuweisen ist. b) Aufteilung nach dem Wohnungseigentumsgesetz (nachfolgend „WoEigG“ genannt) Die Verkäuferin hat das Eigentum an dem Grundstück in Miteigentumsanteile nach § 8 WoEigG aufgeteilt und dadurch eine Wohnungseigentümergemeinschaft gebildet. Dies bedeutet, dass das Sondereigentum an einer bestimmten Wohnung und Terrasse, Gartenanteile sowie Balkone als Teil des Sondereigentums in der Liegenschaft mit einem konkreten Miteigentumsanteil verbunden sind. Die konkrete Zuordnung ergibt sich aus der Teilungserklärung, die sämtliche Wohnungseigentumseinheiten nummerisch auflistet und Bestandteil der Kaufvertragsurkunde ist. Die erforderliche Abgeschlossenheitsbescheinigung – Erklärung der Bauaufsichtsbehörde, dass die Räumlichkeiten entsprechend dem Wohnungseigentumsgesetz (WoEigG) abgeschlossen, d. h. baulich von fremden Wohnungen und Wohnräumen abgetrennt sind – liegt zum Zeitpunkt der Prospektierung vor (Anlage 1 Ergänzung zur Teilungserklärung vom</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36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37 {{VERWEISURKUNDE_DATUM}} mit UVZ-Nr. 1144/2025). Die Erstellung separater einzelner Wohnungsgrundbücher für den Neubau ist erfolgt. Der Kaufgegenstand wird im Bauträgerkaufvertrag exakt bezeichnet. c) Neubauverpflichtung aa) Allgemein Die Verkäuferin verpflichtet sich, das Bauwerk gemäß der Bau- und Leistungsbeschreibung lt. Verweisurkunde vom 4. {{STAND_STEUER}} schlüssel- und bezugsfertig herzustellen und auszustatten, nur normgerechte Baustoffe zu verwenden und das Bauvorhaben nach dem Stand der Technik zum Zeitpunkt der Beurkundung der Teilungserklärung am 4. {{STAND_STEUER}} und technisch einwandfrei zu errichten. Die Vertragsparteien sind sich also darüber einig, dass insofern nicht die nach den allgemeinen Rechtsgrundsätzen zum Zeitpunkt der Abnahme maßgeblichen Regeln der Technik gelten sollen. Die Verkäuferin schuldet dem Käufer die Herstellung in dem vorstehend bezeichneten Umfang so, dass sich die vertragsgegenständliche Wohnung für die gewöhnliche Verwendung zu Wohnzwecken eignet und eine Beschaffenheit aufweist, die bei Werken gleicher Art erwartet werden kann. Zwischen den Beteiligten wird klargestellt, dass die Baubeschreibung keine Garantieerklärung, sondern nur eine Vereinbarung über die Beschaffenheit des vom Verkäufer neu zu errichtenden Bauwerks darstellt. Die Verkäuferin wird den vorstehend näher beschriebenen Grundbesitz und das aufstehende Gebäude Projektteil a) und b) nach Maßgabe der jeweiligen Baubeschreibungen gem. Verweisurkunde und der dazugehörigen Pläne sanieren bzw. neu errichten (vgl. § 2 des Kaufvertrages). Des Weiteren gibt es ausführliche Erläuterungen zu den Details des Neubauvorhabens im Abschnitt Vor- und Nachteile Ziffer 4 a) Bauvorhaben dieses Prospektes. bb) Auszüge aus der Baubeschreibung (1) Balkone und Terrassen Balkone und Terrassen werden gemäß Planung neu errichtet. Die auskragenden Balkone werden aus Beton-Fertigteilen hergestellt und mittels Iso-Körben konstruktiv befestigt. Es gibt ein Gefälle zur Ableitung von Regenwasser . Die Balkonböden werden mit einer wasserundurchlässigen Beschichtung versehen. Die Übergänge vom Balkonboden zur Balkontür werden mit einer barrierearmen Schwelle (weniger 2 cm) gebaut. Die Geländerelemente sind aus Metall, pulverbeschichtet, Farbe nach Farbkonzept. Terrassen werden mit Betonsteinpflaster mit Gefälle errichtet. Dachterrassen erhalten einen Aufbau aus Terrassenplatten mit einer notwendigen Regenablaufrinne. Die Terrassenabsturzsicherung wird als Metallgeländer ausgeführt, pulverbeschichtet, Farbe nach Farbkonzept.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37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38 (2) Fenster Fenster und Balkontüren werden aus Kunststoff in Standardfarbe foliert, nach GEG 3-fach verglast, gemäß Farbkonzept und Energiekonzept verbaut. An den Balkontüren wird außen eine Griffmuschel montiert. Lichtkuppeln /Dachflächenfenster aus Kunststoff werden gemäß Brandschutzkonzept verbaut. Alle Fenster werden mit außenliegenden elektrisch betriebenen Sonnenschutzvorrichtungen (Raffstore) eingebaut. Fenster mit niedrigen Brüstungen erhalten eine Absturzsicherung. Alle Fenster und Fenstertüren inkl. Beschlagteile müssen regelmäßig (mindestens einmal jährlich) gewartet werden, ansonsten entfällt die Gewährleistung Alle Fenster und Fenstertüren inkl. Raffstore werden sechs Monate nach Übergabe der Wohneinheiten durch den Verkäufer gewartet und ggfls. neu eingestellt. Außenfensterbänke sind aus Aluminium/Metall, Innen aus Naturstein, nach Farbkonzept. (3) Lüftungsanlage Das Lüftungskonzept beruht auf natürlicher Lüftung. Einbau eines hygrostatisch gesteuerten Badabluftventilators, Firma Maico oder gl eichwertig ALD in der Außenwand mit entsprechenden Luftgittern/Abdeckungen als Nachströmöffnung für die Frischluft. (4) Heizung Das Wohngebäude wird zwecks Beheizung und Warmwasserversorgung mit Fernwärme versorgt. Eine Übergabestation wird von der SWM zu diesem Zwecke gemietet. (5) Abwassersystem Das Abwassersystem wird im Gebäude mit schalldämmender Ummantelung erstellt. Die Trinkwasserinstallation erfolgt in Stahl- oder Edelstahlrohr, Aluverbundrohr oder gleichwertig. Die Warmwasserversorgung erfolgt über Fernwärme und einem ausreichend dimensioniertem Brauchwasserspeicher im Keller gemäß Planung. Die Montage von erforderlichen Wasserzählern erfolgt an geeigneter Stelle in den Wohnungen, vorzugsweise in den Bädern. Wohnungen mit Gartenanteil erhalten einen frostsicheren Außenwasserhahn. dd) Fertigstellung Derzeit wird von Seiten der Verkäuferin geplant, die vertragsgegenständliche Wohnung bis zum {{FERTIG_GEPLANT}} fertig zu stellen. Die Verkäuferin verpflichtet sich, die mit dem Kaufvertrag erworbene Wohnung bis spätestens {{FERTIG_VERBINDLICH}} bezugsfertig und nebst Gemeinschaftseigentum bis spätestens {{FERTIG_VERBINDLICH}} vollständig fertig zu stellen. Die Wohnung ist bezugsfertig, wenn die Bauarbeiten im Wesentlichen abg eschlossen sowie ein gefahrloser Zugang und die Bewohnbarkeit gesichert sind.</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38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39 Mängelbeseitigungen, Restarbeiten am Gebäude sowie die Erstellung der Außenanlagen sind nach Bezugsfertigstellung möglich. Die Bezugsfertigkeit darf sich für die Dauer eines etwaigen Verzuges des Käufers mit der Kaufpreiszahlung verzögern. Die vollständige Fertigstellung des Vertragsobjektes ist gegeben, wenn die vertraglich geschuldeten Leistungen von der Verkäuferin erbracht sind. Die Außenanlagen, Zugangswege, Anpflanzungen müssen -soweit in der Baubeschreibung festgelegt- erstellt und ausstehende Restarbeiten durchgeführt sein. Etwa vorliegende und noch zu beseitigende Mängel hindern die vollständige Fertigstellung nicht. Die Beseitigung der bei Abnahme im Übergabeprotokoll aufgeführten Mängel ist somit nicht Voraussetzung einer vollständigen Fertigstellung. In diesen Fällen steht dem Käufer jedoch ein Zurückbehaltungsrecht in Höhe des zweifachen Betrages des mängelbedingten Minderwertes der jeweiligen Leistung bzw. des mutmaßlichen Beseitigungsaufwandes zu (§ 641 Abs. 3 BGB) Bis zur Übergabe des Vertragsbesitzes steht der Verkäuferin das alleinige Hausrecht auf der Baustelle zu. Der Käufer darf Bauarbeiten weder anordnen noch aufhalten; zu Weisungen auf der Baustelle ist er nicht befugt. Der Käufer wurde darauf hingewiesen, dass das Betreten der Baustelle bis zur Übergabe des Vertragsobjektes auf eigene Gefahr geschieht und nur nach vorheriger Anmeldung und Genehmigung durch die Verkäufer erfolgen darf. Für den Fall, dass die Verkäuferin den Vertragsgegenstand nicht bis spätestens zu diesem Zeitpunkt bezugsfertig hergestellt hat, ist sie zur Zahlung einer vertraglich vereinbarten Nutzungsausfallentschädigung für jede angefangene Kalenderwoche verpflichtet. Bei Fristüberschreitung aus Gründen, die die Verkäuferin nicht schuldhaft zu vertreten hat (wie z.B. Schlechtwettertage, höhere Gewalt, Vollzugshemmung der Baugenehmigung oder die Realisierung von Sonderwünschen des Käufers), verlängert sich die Bezugsfertigkeit und vollständige Fertigstellung um den entsprechenden Zeitraum der Fristüberschreitung, es sei denn, die Überschreitung ist dem Käufer unter Berücksichtigung der gesamten Umstände nicht mehr zumutbar. d) Kaufpreisgestaltung D er Bauträgerkaufvertrag bezüglich der Eigentumswohnung beinhaltet einen Festpreis. In diesem Kaufpreis sind diverse Kostenpositionen enthalten, die die Verkäuferin im Vorfeld bereits verauslagt hat: • alle Herstellungskosten sowie die Baunebenkosten (Architektenhonorar, Statikerkosten, Genehmigungen etc.); • die Kosten für die Herstellung der Außenanlagen laut Baubeschreibung; • alle Kosten der Anschlüsse des Vertragsobjekts an Ver- und Entsorgungsanlagen einschließlich der Anschlussgebühren, Herstellungsbeiträge und sonstigen Kommunalabgaben für die funktionsgerechte äußere Erschließung des Vertragsobjekts sowie die Kosten der inneren Erschließung. Art und Umfang der Leistungen des Verkäufers ergeben sich aus der Baubeschreibung und ggf. 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39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40 Baugenehmigung für das Bauvorhaben. Der Verkäufer trägt ferner alle Erschließungsbeiträge im Sinne des Baugesetzbuches, Beiträge im Sinne des Kommunalabgabengesetzes sowie etwaiger städtischer Satzungen für Anlagen, die bereits errichtet sind oder bis zur Bezugsfertigkeit hergestellt sind oder für die die Gemeinde bis zur endgültigen Fertigstellung Voraus- oder Sicherungsleistungen verlangt hat oder über die ein Erschließungsvertrag mit der Gemeinde geschlossen wurde. Etwaige Rückerstattungen von Vorausleistungen stehen dem Verkäufer zu; • die Kosten und Gebühren der Begründung von Raumeigentum (Aufteilung der Liegenschaft). Dazu gehören ferner die Kosten des Marketings und des Vertriebes des Gesamtobjektes. Des Weiteren gehören dazu auch die Innenprovisionen an den Kapitalanlagevertrieb, die in der Regel immer über dem Niveau einer marktüblichen Maklercourtage liegen. Aufgrund der konkreten Wohnung, dem eingebundenen Vertriebspartner und dem aktuellen Stand der Vertriebsaktivitäten kann die Höhe variieren und bei Interesse bei der Verkäuferin erfragt werden. Der Kaufpreis beinhaltet mangels Vereinbarung keine anfallenden Vertragsnebenkosten (Notar- und Grundbuchgebühren, Kosten des Vertragsvollzuges), keine vom Käufer eventuell zu tragende Außenprovision des Vermittlers, keine Kosten für die Eintragung von Grundpfandrechten für die Finanzierung des Käufers, keine Beiträge zur Haftpflicht- und Feuerversicherung (Absicherung Risiken ab Deckungszusage der Versicherung), keine anfallenden öffentlichen Lasten wie Steuern (z. B. Grunderwerbsteuer, Grundsteuer), Gebühren (z. B. Abfallgebühren) und sonstige Beiträge. Maßgeblich für diese zusätzliche Kostentragungspflicht ist der Besitzübergang (Übergang Nutzen/Lasten) auf den Käufer (vgl. § 20 des notariellen Kaufvertrages). Als Faustformel für die zusätzlich anfallenden Nebenkosten ist ein Be trag von ca. 7,5% des Kaufpreises (zurzeit 5,00% Grunderwerbsteuer im Bundesland Sachsen-Anhalt und ca. 2,5% Notar-, Gerichtskosten sowie Kosten der Finanzierungsgrundschuld) anzusetzen. Da zum Zeitpunkt des Kaufes die Wohnung erst errichtet wird und leer steht, muss der Käufer diese Kosten in seinen Liquiditätsbedarf mit einbeziehen. Gleiches gilt für noch anfallende Bereitstellungszinsen sowie Bearbeitungsentgelte (Zwischenfinanzierungskosten). Für die ausreichende Finanzierung ist ausschließlich der Käufer verantwortlich. e) Fälligkeit der Kaufpreiszahlung Der Kaufpreis ist zahlbar in bis zu sieben Abschlagsraten, welche gemäß § 3 Abs. 2 Makler- und Bauträger-Verordnung (MaBV) beliebig nach den Prozentsätzen der nachfolgenden 13 Bauabschnitte des Projektteiles a) als geschuldetem Bauvorhaben vom Verkäufer zusammengesetzt werden können: (1) 30,0% nach Vorliegen der nachstehend in Ziff. 4. genannten und vom Abwicklungsnotar zu bestätigenden Grundvoraussetzungen (2) 28,0% nach Herstellung der Rohbaufertigstellung, einschließlich Zimmererarbeiten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40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41 (3) 5,6% nach Herstellung der Dachflächen und Dachrinnen (4) 2,1% nach Rohinstallation der Heizungsanlage (5) 2,1 % nach Rohinstallation der Sanitäranlagen (6) 2,1 % nach Rohinstallation der Elektroanlagen (7) 7,0% nach Einbau der Fenster einschließlich Verglasung (8) 4,2% nach Ausführung der Innenputzarbeiten, ausgenommen Beiputzarbeiten (9) 2,1 % nach Einbringung des Estrichs (10) 2,8% nach Erledigung der Fliesenarbeiten im Sanitärbereich (11) 8,4% nach Bezugsfertigkeit und Zug um Zug gegen Besitzübergabe (12) 2,1 % nach Erledigung der Fassadenarbeiten (13) 3,5% nach vollständiger Fertigstellung des Vertragsgegenstandes (z. B. Restarbeiten im Treppenhaus, Außenanlagen usw.). Sofern einzelne Leistungen nicht anfallen oder weil sie mit der unverändert bestehenbleibenden Altbausubstanz bereits erbracht sind, wird der jeweilige Vomhundertsatz anteilig auf die übrigen Raten verteilt. Zur Sicherheitsleistung nach § 650m Abs. 2 BGB vereinbaren die Vertragsparteien Folgendes: Der Erwerber ist berechtigt, von der ersten Abschlagszahlung einen Betrag in Höhe von 5% des Kaufpreises als Sicherheit für die rechtzeitige Herstellung des Bauwerkes ohne wesentliche Mängel einzubehalten. Dieser Einbehalt ist zur Zahlung fällig, wenn des Vertragsobjekt rechtzeitig und ohne wesentliche Mängel fertig gestellt ist. Ist dies nicht der Fall, bestimmt sich die Fälligkeit nach den gesetzlichen Bestimmungen. Liegen nur unwesentliche Mängel vor, ändert dies nichts an der Fälligkeit dieses Einbehaltes, unbeschadet etwa in diesem Fall bestehender gesetzlicher Zurückbehaltungsrechte. Klargestellt wird nochmals ausdrücklich, dass Bauleistungen hinsichtlich des Projektteils b) Sanierung Denkmalgebäude und c) Tonnengewölbe, so wie sie auch in der Teilungserklärung beschrieben werden, nicht Gegenstand der Herstellungsverpflichtung der Verkäuferin bezüglich des Neubaugebäudes sind; deren Durchführung ist demnach vereinbarungsgemäß nicht Voraussetzung für die geschuldeten Kaufpreiszahlungen. Für die Fälligkeit der 1. Rate ist abzustellen auf das Gesamtobjekt. Für die Fälligkeit der 2. bis 6. Rate ist abzustellen auf das jeweilige Sondereigentum und die zu dessen Funktion erforderlichen Teile des Gemeinschaftseigentums. Für die Fälligkeit der 7. und letzten Rate ist zusätzlich abzustellen auf das Gemeinschaftseigentum. Die einzelnen Abschlagsraten sind nach vollständiger Erledigung aller Arbeiten der genannten Bauabschnitte mit Zugang der Zahlungsaufforderung der Verkäuferin beim Erwerber unter Vorlage einer schriftlichen Bestätigung des bauleitenden Architekten über den entsprechenden Bautenstand innerhalb von 10 Bankarbeitstagen zur Zahlung fällig und bis dahin nicht zu verzinsen.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41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42 Zur Sicherheit des Käufers wird vereinbart, dass die Zahlung gem. vorgenannten Regelungen erst nach schriftlicher Bestätigung des Abwicklungsnotars gegenüber den Vertragsparteien erfolgt, nach der a) alle zur Rechtswirksamkeit und zum Vollzug dieses Kaufvertrages erforderlichen Genehmigungen vorliegen und keine Gründe ersichtlich sind, die gegen die Wirksamkeit dieser Urkunde sprechen, b) die Eintragung der für den Käufer bewilligten Eigentumsverschaffungsvormerkung im Wohnungsgrundbuch im Rang nach den in § 1 genannten Rechten erfolgt ist, wobei unter Mitwirkung des Käufers bestellte Grundstücksbelastungen im Rang vorgehen dürfen, c) die Lastenfreistellung durch Vorliegen der Freistellungsverpflichtung des Gläubigers gesichert ist, wonach nicht zu übernehmende Grundpfandrechte gelöscht werden, und zwar, wenn das Bauvorhaben vollendet wird, unverzüglich nach Zahlung der geschuldeten Vertragssumme, anderenfalls unverzüglich nach Zahlung des dem erreichten Bautenstand entsprechenden Teils der geschuldeten Vertragssumme durch den Käufer; für den Fall, dass das Bauvorhaben nicht vollendet wird, kann sich der Gläubiger vorbehalten, anstelle der Freistellung alle vom Käufer vertragsgemäß geleisteten Zahlungen bis zum anteiligen Wert des Vertragsobjektes zurückzuzahlen. Diese Erklärung ist dem Käufer in beglaubigter Kopie auszuhändigen. Weitere Grundvoraussetzung für die Fälligkeit o.g. Raten ist das Vorliegen der Baugenehmigung zu dem vertragsgegenständlichen Bauvorhaben; diese Voraussetzung ist dem Käufer durch den Verkäufer zu bestätigen, sobald die Rechtsmittelfrist von einem Monat nach Erteilung der Genehmigung abgelaufen ist (§ 3 Abs. 1, Satz 1, Nr. 4 MaBV). Dem Käufer ist bekannt, dass der Kaufpreis an den Grundschuldgläubiger abgetreten wird. Die Verkäuferin ist jedoch weiter zum Einzug der Forderung im eigenen Namen, jedoch zur Zahlung auf das Bausonderkonto berechtigt. Der Käufer kann daher aufgrund der Abtretung Zahlungen mit befreiender Wirkung nur auf das vorgenannte Bausonderkonto leisten. Sämtliche Zahlungen nach diesem Vertrag sind erst mit Gutschrift auf dem benannten Empfängerkonto bewirkt. f) Vollstreckungsunterwerfung Auf eine Vollstreckungsunterwerfung des Käufers wird im Rahmen des Bauträgerkaufvertrages verzichtet. g) Verzug Für Verzug mit der Leistung einer fälligen Rate und für Verzugsfolgen gelten die gesetzlichen Bestimmungen. Der gesetzliche Verzugszins beträgt fünf Prozentpunkte über dem jeweiligen Basiszinssatz gemäß § 247 Abs. 1 BGB. Der Zinssatz wird gesetzlich zum 1.</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42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43 Januar und 1. Juli eines jeden Jahres angepasst und von der Deutschen Bundesbank bekannt gegeben. h) Wohnflächenberechnung Die Wohnfläche des Kaufgegenstandes wird nach der Wohnflächenverordnung berechnet, wobei die Fläche der Balkone mit 50 % der Grundfläche hierbei berücksichtigt ist. Eine generelle Haftung der Verkäuferin für Flächenabweichungen kommt nach der bisherigen Rechtsprechung des Bundesgerichtshofes (BGH Urteil vom 22.10.1999, Az. V ZR 398/98 in NJW-RR 2000, 202) nur dann in Betracht, wenn sie nicht auf Sonderwünschen des Käufers beruhen und soweit sie um mehr als 3 % nach unten abweichen. Im Fall der Unterschreitung ist der Wert komplett ersatzpflichtig (Berechnungsbasis für den Wertersatz ist der Quadratmeterpreis der jeweiligen Wohnung) und es gibt keinen Geringfügigkeitsabzug von 3 % im Rahmen der Berechnung. Eine Mehrfläche ist erst dann auszugleichen, wenn die 3% Grenze nach oben überschritten wird. Im vorliegenden Fall sind Abweichungen von den sich aus den Plänen ergebenen Flächengrößen nur auszugleichen, soweit sie 2% übersteigen, jedoch dann nicht, wenn ein Mindermaß durch Sonderwünsche des Käufers veranlasst ist. Eine Erhöhung des Kaufpreises aufgrund Flächenmehrung ist jedoch begrenzt auf 5% des vereinbarten Kaufpreises. Es gibt aktuell Diskussionen innerhalb der politischen Entscheidungsträger, ob diese Regelung nicht gesetzlich dahingehend geändert wird, dass nur noch die tatsächliche Wohn- bzw. Nutzfläche maßgebend sein soll (vgl. auch ausführlichen die Ausführungen im Abschnitt Vor- und Nachteile). i) Finanzierungsmitwirkung Um dem Käufer die Finanzierung zu erleichtern, verpflichtet sich der Verkäufer als derzeitiger Eigentümer, bei der Bestellung vollstreckbarer Grundschulden oder Hypotheken gem. § 800 ZPO in beliebiger Höhe nebst Zinsen bis zu 20 % p.a. und Nebenleistungen bis zu 10 % des Grundpfandrechtsbetrages zugunsten von Kreditinstituten der Europäischen Union mitzuwirken. Diese Mitwirkungspflicht besteht nur, wenn in den Grundpfandrechtsbestellungsurkunden folgende, von den Beteiligten bereits jetzt getroffenen Bestimmungen wiedergegeben werden: aa) Sicherungsabrede Die Grundschuldgläubigerin darf das Grundpfandrecht nur insoweit als Sicherheit verwerten oder behalten, als sie tatsächlich Zahlungen mit Tilgungswirkung auf die Kaufpreisschuld des Käufers geleistet hat. Alle weiteren Zweckbestimmungserklärungen, Sicherungs- und Verwertungsvereinbarungen innerhalb oder außerhalb dieser Urkunde gelten erst, nachdem der Kaufpreis vollständig gezahlt ist, in jedem Fall ab</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43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44 Eigentumsumschreibung. Ab diesem Zeitpunkt gelten sie für und gegen den Käufer als neuen Sicherungsgeber. bb) Zahlungsanweisung Zahlungsansprüche, durch die diese erstmals valutiert werden, gelten mit der Maßgabe, dass sie zur Bezahlung des Kaufpreises gemäß den Regelungen dieses Kaufvertrages zu verwenden sind. Sie werden bereits jetzt an den Verkäufer abgetreten, soweit der Kaufpreis nicht anderweitig zur Freistellung des verkauften Vertragsbesitzes von eingetragenen Belastungen zu verwenden ist. Sofern eine Abtretung ausgeschlossen ist, wird hierdurch ein unwiderruflicher Zahlungsauftrag erteilt. cc) Persönliche Zahlungspflichten, Kosten Der Verkäufer übernimmt im Zusammenhang mit der Grundpfandrechtsbestellung keinerlei persönliche Zahlungsverpflichtungen. Der Käufer verpflichtet sich, den Verkäufer von allen Kosten und sonstigen Folgen der Grundpfandrechtsbestellung freizustellen. dd) Fortbestand der Grundpfandrechte Das bestellte Grundpfandrecht darf auch nach der Eigentumsumschreibung auf den Käufer bestehen bleiben. Alle Eigentümerrechte und Rückgewähransprüche, die mit ihr in Zusammenhang stehen, werden hiermit mit Wirkung ab Bezahlung des Kaufpreises, in jedem Fall ab Eigentumsumschreibung, auf den Käufer übertragen. Entsprechende Grundbucheintragung wird bewilligt. j) Besitzübergang aa) Gesetzliche Vorgaben Das Gesetz verpflichtet den Erwerber/Käufer zur Abnahme, also dazu, die erbrachten Bauleistungen als „im Wesentlichen vertragsgemäß“ anzuerkennen. Bei dieser Abnahme ist nicht nur festzustellen, ob die tatsächlich erbrachten Leistungen frei von wesentlichen erkennbaren Mängeln sind, sondern auch, ob sie in Art und Umfang dem vertraglich Vereinbarten entsprechen. Wegen unwesentlicher Mängel kann die Abnahme durch den Erwerber nicht verweigert werden. bb) Abnahme Sondereigentum, Gemeinschaftseigentum Die Abnahme des Sondereigentums erfolgt nach Bezugsfertigkeit des Vertragsgegenstandes und erfolgter Zahlung der bis dahin fälligen Kaufpreisraten in einer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44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45 Begehung durch Verkäuferin und Käufer. Mehrere Käufer erteilen sich bereits hier gegenseitig Vollmacht zur Abnahme. Die Übergabe des Sondereigentums an den Käufer findet am Übergabetermin Zug um Zug gegen Zahlung der dann noch fälligen Zahlungsrate einschließlich angefallener Zinsen und Kosten statt. Die Verkäuferin ist verpflichtet, den vorgesehenen Abnahmetermin rechtzeitig mindestens zwei Wochen vorher – dem Käufer schriftlich mitzuteilen. Erscheint der Erwerber zum Abnahmetermin nicht, ist die Verkäuferin berechtigt, einen zweiten Abnahmetermin festzusetzen und diesen dem Erwerber wiederum zwei Wochen vorher schriftlich mitzuteilen; dabei ist auf die Folgen des erneuten Fernbleibens schriftlich hinzuweisen. Erscheint der Erwerber auch zum zweiten Abnahmetermin nicht, gilt das Vertragsobjekt als abgenommen. Der Abnahme steht es gleich, wenn der Erwerber das Vertragsobjekt ohne Einwilligung der Verkäuferin bezieht. Im Übrigen gilt § 640 Abs. 2 BGB (Abnahmefiktion). Die Abnahme des Gemeinschaftseigentums erfolgt nach vollständiger Fertigstellung des Vertragsgegenstandes in einer Begehung durch die Verkäuferin und den Erwerber. Der Verkäufer kann verlangen, dass die zum Zeitpunkt der Abnahme des heute verkauften Sondereigentums bereits abnahmefähig hergestellten, in sich abgeschlossenen Teile des Gemeinschaftseigentums vom Käufer mit abzunehmen sind. Das Gemeinschaftseigentum, das einem Erwerber zur Sondernutzung zugewiesen ist oder ausschließlich im Bereich dessen Sondereigentums liegt, ist von diesem Käufer zusammen mit seinem Vertragsobjekt abzunehmen. Der Käufer erteilt jedem anderen Eigentümer einer Sondereigentumseinheit widerrufliche Vollmacht zur Abnahme derjenigen Teile des Gemeinschaftseigentums, welche diesem zur Sondernutzung zugewiesen sind oder ausschließlich im Bereich seines jeweiligen Sondereigentums liegen. Die Abnahme der Außenanlagen, die nicht zur Sondernutzung zugewiesen sind, obliegt der Wohnungseigentümergemeinschaft. cc) Abnahmeprotokoll und Restarbeiten Bei jeder Abnahme wird eine Niederschrift gefertigt, die von beiden Vertragsbeteiligten (bzw. dem Bevollmächtigten) zu unterzeichnen ist und in die alle nicht voll erbrachten Bauleistungen und die seitens des Erwerbers gerügten Mängel in der Bauausführung aufzunehmen sind. Die noch ausstehenden Bauleistungen hat der Veräußerer unverzüglich zu erbringen; die festgestellten Baumängel sind unverzüglich zu beseitigen. Der Erwerber kann die Abnahme nicht aufgrund geringfügiger Nachbesserungsarbeiten oder wegen noch bestehender Unvollständigkeit von Wegen oder Außenanlagen verweigern, es sei denn, dass ihm der Bezug nicht zugemutet werden kann. Etwa nach der Abnahme erfolgende Restarbeiten oder Mängelbeseitigungsarbeiten duldet der Erwerber entschädigungslos, auch wenn damit für ihn eine vorübergehende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45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46 Beeinträchtigung verbunden ist. Dies gilt nicht, soweit die Beeinträchtigung einen Mieter zur Mietminderung berechtigen würde. dd) Wirtschaftlicher Übergang Mit der Abnahme des Sondereigentums gehen die Nutzungen, die Lasten sowie die Gefahr des zufälligen Untergangs und der zufälligen Verschlechterung des Vertragsgegenstandes auf den Erwerber über, ebenso die Verkehrssicherungspflicht und andere öffentlichrechtliche Verpflichtungen aber auch die Verpflichtung zur Zahlung von Wohngeld und Erhaltungsrücklagen sowie der nach den gesetzlichen Regelungen zunächst zu übernehmenden Wohngebäudeversicherung. ee) Erschließungsbeiträge Im Kaufpreis ferner enthalten sind die auf den Grundstückseigentümer umzulegenden einmaligen öffentlichen Lasten (§ 127 Abs. 1 BauGB, Abgaben gemäß § 127 Abs. 4 BauGB und Anliegerbeiträge einschließlich Kostenerstattungsansprüche nach den entsprechenden Verordnungen des Landes Sachsen-Anhalt und den entsprechenden Satzungen privatrechtlich organisierter Ver- und Entsorgungsträger einschließlich der Kostenerstattung für Hausanschlüsse sowie der Kosten naturschutzrechtlicher Ausgleichsmaßnahmen), welche durch die erstmalige Herstellung des Vertragsobjektes anfallen sind im Festpreis enthalten und werden durch die Verkäuferin getragen. Das Grundstück ist mit Strom, Wasser und Abwasser sowie Fernwärme erschlossen. Es handelt sich hierbei um Beschaffenheitsvereinbarungen, nicht um eine Garantie. Auf die gesetzliche Haftung des Vertragsobjekts für öffentliche Lasten, das heißt die mögliche Heranziehung des Käufers durch die Gemeinde bei Leistungsunfähigkeit der Verkäuferin und die Möglichkeit der Risikovermeidung, z. B. durch Stellung einer Bürgschaft durch die Verkäuferin ist hinzuweisen. ff) Heizungsanlage Das Bauvorhaben liegt im Erschließungsgebiet für Fernwärme der Stadtwerke Magdeburg (SWM). Es ist davon auszugehen, dass die Erschließung zeitgerecht zum Bauablauf erfolgen wird, so wird das Bauvorhaben durch Fernwärme der Stadtwerke Magdeburg zur Raumheizung und Warmwasserversorgung versorgt. Eine Übergabestation wird von der SWM zu diesem Zwecke gemietet.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46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47 k) Ansprüche und Rechte bei Mängeln aa) Sachmängel beim Grundstück Alle Ansprüche und Rechte des Käufers wegen Sachmängeln am Grund und Boden werden ausgeschlossen, es sei denn, das Gebäude kann auf dem Grundstück nicht bestimmungsgemäß genutzt werden oder die Beschaffenheit des Grundstückes führt zu Sachmängeln am Bauwerk. Eine Haftung für den im Grundbuch eingetragenen Messgehalt wird nicht geleistet. Die Verkäuferin versichert, dass ihr nichts bekannt ist von verborgenen Mängeln, schädlichen Bodenveränderungen i. S. des § 2 Abs. 3 BundesBodenschutzgesetz (BBodSchG) und/oder Altlasten i. S. des § 2 Abs. 5 BBodSchG. Die Verkäuferin erklärt, dass ihr nicht erkennbare Mängel nicht bekannt sind. bb) Sachmängel am Gebäude Für Mängel am Bauwerk gelten die Bestimmungen des Bürgerlichen Gesetzbuches über den Werkvertrag §§ 631 ff. BGB Die Verjährungsfrist beträgt für Mängel am Bauwerk sowie dazugehörige Planungs- und Überwachungsarbeiten fünf Jahre ab der jeweiligen Abnahme. Für Mängel im Bereich des Sondereigentums beginnt die Verjährungsfrist mit der Abnahme des Sondereigentums, für Mängel im Bereich des Gemeinschaftseigentums mit dessen Abnahme. Die Sachmängelhaftung erstreckt sich nicht auf normale Abnutzung, insbesondere nicht auf Teile und Anlagen, die einem besonderen Verschleiß unterliegen, soweit deswegen eine Reparaturbedürftigkeit eintritt. Es obliegt daher dem Käufer, solche Bauteile und Anlagen durchlaufende Wartung in einem ordentlichen Zustand zu erhalten. Der Verkäufer weist darauf hin, dass die elastischen Fugen an Duschtassen und Badewannen Wartungsfugen sind. Das gleiche gilt für die elastischen Fugen in den Übergängen der gefliesten Wandflächen zu den Bodenflächen bzw. zwischen einzelnen Wandflächen. Sie müssen in regelmäßigen Zeitabständen überprüft und gegebenenfalls erneuert werden um Folgenschäden zu vermeiden. Der Verschleiß bzw. der Verbrauch dieser Fugen stellt daher keinen Mangel dar. Gleiches gilt für Rissbildungen in Bauteilen, wie Wänden, Decken, Putz- und Trockenbaubekleidungen, Anschlussfugen (z. B. zwischen Holzbauteilen und Fassadenputz etc.), die aufgrund der bauphysikalischen und materialbedingten Eigenschaften der Bauteile entstehen (z. B. Kriechen, Schwinden, Setzungen oder Austrocknungsprozesse). Die Verkäuferin haftet nicht für Leistungen, die sie nicht zu erbringen hat, so z.B. für eventuelle Eigenleistungen des Erwerbers oder Sonderwünsche, die mit den Handwerkern direkt vereinbart werden. Von den vorgenannten vereinbarten Beschränkungen ausgenommen ist eine Haftung der Verkäuferin für Vorsatz oder Arglist. Garantien werden nicht abgegeben. Hinsichtlich von Schadenersatzansprüchen bleibt die Haftung für grob fahrlässig verursachte Schäden und</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47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48 für Schäden aus der Verletzung des Lebens, des Körpers der der Gesundheit, die auf einer fahrlässigen Pflichtverletzung des Veräußerers, seines gesetzlichen Vertreters oder eines Erfüllungsgehilfen beruhen, unberührt. Sicherungshalber tritt die Verkäuferin die ihr gegen die am Bau beteiligten Architekten und Bauingenieure, Bauhandwerker, Zulieferer und alle sonst mit dem Bau befassten Dritten zustehenden Erfüllungs- und Schadensersatzansprüche sowie seine Rechte bei Mängeln an den Käufer ab. Die eigene Haftung der Verkäuferin/Bauträger bleibt unberührt. Die Sicherungsabtretung wird wirksam, wenn soweit der Bauträger mit der Mängelbeseitigung in Verzug ist und den Mangel binnen angemessener Nachfrist nicht behoben hat; sie erlischt, wenn und soweit der Mangel vom Bauträger oder dem am Bau Beteiligten behoben ist. cc) Rechtsmängel Die Verkäuferin schuldet dem Käufer die Übertragung des Vertragsobjektes frei von eingetragenen und nicht eingetragenen Lasten in Abteilung II und III des Grundbuches sowie Eintragungen im Baulastenverzeichnis, soweit nicht Verpflichtungen im Bauträgerkaufvertrag vom Käufer übernommen oder mit Zustimmung des Erwerbers eingetragen werden. Soweit im Zusammenhang mit dem Bauvorhaben in das Vertragsobjekt Einrichtungen und Anlagen zur Ver- oder Entsorgung eingebaut werden, die noch anderen Eigentümern dienen, ist der Erwerber zur Duldung und zur Bestellung entsprechender Dienstbarkeiten im Grundbuch ohne Anrechnung auf den Kaufpreis verpflichtet. Dasselbe gilt für Baulasten im Zusammenhang mit dem Bauvorhaben. Zwecks Bestellung dieser Eintragungen einschließlich der Vorrangeinräumung solcher Dienstbarkeiten gegenüber der zugunsten des Käufers etwa eingetragenen Auflassungsvormerkung erteilt der Käufer der Verkäuferin bereits hier Vollmacht. Die Verkäuferin weist den Käufer darauf hin, dass weder er noch von ihm beauftragte Dritte Erklärungen oder Verpflichtungen für die Verkäuferin über diesen Kaufvertrag hinaus abzugeben haben. Alle in diesem Vertrag nicht genannten Positionen gelten als nicht vereinbart und nicht bindend. Dies gilt insbesondere für Wertentwicklungserwartungen und für steuerliche Berechnungen des Käufers. dd) Förderfähige Kosten im KfW-Programm 297/298 Die Parteien vereinbaren ein „KfW-Effizienzhaus 40“, „Klimafreundliches Wohngebäude“ gemäß der Bestätigung des o.g. Sachverständigen zum Antrag „Klimafreundlicher Neubau (297/298)“ als Sollbeschaffenheit. Der Verkäufer haftet gegenüber dem Käufer für dieses vereinbarte KfW-Effizienzhaus-Niveau. Die QNG-Zertifizierung ist durch den Verkäufer bereits beauftragt.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48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49 Die Verkäuferin weist darauf hin, dass für eine vom Käufer etwa gewünschte kostenpflichtige Inanspruchnahme von KfW-Fördermitteln die Beauftragung eines Sachverständigen zwingend erforderlich ist und empfiehlt die Beauftragung folgenden Sachverständigen: ITG Energieinstitut GmbH Sabine Faulbaum Josef-von-Fraunhofer-Str. 2 39106 Magdeburg E-Mail s.faulbaum@itg-energie.de Fax (0391) 544 342 – 99. Die Verkäuferin empfiehlt dem Käufer weiter, sich im Einzelnen über die aktuellen Förderrichtlinien der KfW , die einzuhaltenden Formen und Fristen für Anträge zu unterrichten und beraten zu lassen. Die Kosten für die KfW-Bestätigung zum Antrag sowie KfW-Bestätigung nach Durchführung in Höhe von 490,-€ inkl. MwSt. werden direkt zwischen ITG Energieinstitut GmbH und Käufer abgerechnet. Der Verkäufer ist verpflichtet, dem Käufer die nach den Richtlinien der KfW aufzubewahrenden Unterlagen bei Besitzantritt zu übergeben. Dieser Anspruch verjährt in 5 Jahren nach Fertigstellung des Bauvorhabens. Solange die Unterlagen bei dem o.g. KfW-Sachverständigen für den Käufer zur Verfügung stehen, kann der Verkäufer von einer Übersendung der Unterlagen an den Käufer absehen, es sei denn, der Käufer besteht darauf. Der Verkäufer ist berechtigt, die Unterlagen auf einem Datenträger elektronisch zur Verfügung zu stellen. Die Verkäuferin weist darauf hin, dass für die Inanspruchnahme von KfW-Fördermitteln die Beauftragung eines Sachverständigen zwingend erforderlich ist. Bei der benannten Beraterin handelt es sich um eine erfahrene Energieberaterin, die der Käufer im Rahmen des notariellen Bauträgerkaufvertrages beauftragt. In jedem Fall muss sich der Käufer im Einzelnen über die jeweils gültige aktuelle Fassung der Förderrichtlinie der KfW , die einzuhaltenden Formen und Fristen für Anträge unterrichten und beraten zu lassen. Die Verkäuferin weist darauf hin, dass ab dem 1. August 2015 aufgrund der von der KfW geforderten energetischen Baubegleitung der Energieberater Überprüfungen vor Ort vornehmen muss, wodurch zusätzliche Kosten entstehen. Auf Grund der Praxis der KfW , die Bedingungen ihrer Förderrichtlinien regelmäßig zu ändern und zu erhöhen, kommt in Betracht, dass die Bedingungen bereits zum Zeitpunkt dieses Vertragsschlusses nicht mehr gültig sind. Die Verkäuferin übernimmt daher ausdrücklich keine Gewähr dafür, dass die Bedingungen für die Inanspruchnahme von zinsvergünstigten Darlehen und/oder Zuschüssen der KfW oder anderer Förderinstitute vorliegen. Für weitere Informationen steht es dem Käufer frei, sich mit dem für das Projekt verantwortlichen Energiegutachter in Verbindung zu setzen. Der Käufer nimmt dies zur Kenntnis und erklärt sein ausdrückliches Einverständnis hierzu.</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49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50 Wegen der steuerlichen Auswirkungen wird ferner auf die Ausführungen im Abschnitt „Steuerliche Gestaltung“ verwiesen. l) Abwicklungsvollmachten Im Bauträgervertrag sind verschiedene Vollmachten enthalten. Durch beide Parteien werden die Notarangestellten vollumfänglich zur Durchführung des Vertrages und gegebenenfalls Rückabwicklung ermächtigt. Der Käufer erhält eine Belastungsvollmacht zur Grundpfandrechtsbestellung auf dem Vertragsobjekt zu Finanzierungszwecken. Die Verkäuferin ist bevollmächtigt, Sonder- und Gemeinschaftseigentumsflächen umzuwandeln und Aufteilungen oder räumliche Veränderungen nach billigem Ermessen vorzunehmen. Im Innenverhältnis ist diese Vollmacht insoweit beschränkt, dass die Änderungen bei wirtschaftlicher Sichtweise Art und Umfang des Sondereigentums des Käufers sowie der ihm zur Sondernutzung zugewiesenen Teile des Gemeinschaftseigentums nicht unzumutbar beeinträchtigen dürfen. m) Änderungsvollmacht Der Erwerber stimmt daher baulichen Änderungen und jeglichen Änderungen der Teilungserklärung seitens des Verkäufers zu und erteilt diesem unter Befreiung von den Beschränkungen des § 181 BGB unwiderruflich Vollmacht, die Verweisurkunde abzuändern und alle hierzu erforderlichen und zweckmäßigen Erklärungen abzugeben und entgegenzunehmen, auch betreffend Änderungen von Miteigentumsanteilen oder Sondernutzungsrechten sowie die Auflassung zu erklären bzw. zu wiederholen. Die Vollmacht berechtigt auch • zur Umwandlung von Sonder- in Gemeinschaftseigentum oder/und von Gemeinschafts- in Sondereigentum, • bestehendes Sondereigentum in mehrere Sondereigentumseinheiten zu unterteilen oder diese zusammenzulegen sowie • bestehende Sondernutzungsrechte zu unterteilen oder zu vereinigen • Räume zu tauschen sowie deren Lage und Größe zu verändern • beliebige Umplanungen im Hinblick auf die Projektteile b) und c) vorzunehmen. Bei der baulichen Ausführung solcher Änderungen ist der Verkäufer berechtigt, auch an tragenden Wänden oder Decken, die gemeinschaftliches Eigentum sind, Mauer- oder Deckendurchbrüche (z. B. für Türen) zu schaffen und wieder zu schließen, sofern dies mit baubehördlicher Genehmigung und unter Beachtung der Regeln der Technik geschieht. Gegenüber dem Grundbuchamt ist die Vollmacht unbeschränkt. Der Veräußerer ist jedoch gegenüber dem Erwerber bei Ausübung der Vollmacht dergestalt beschränkt, dass ohne Zustimmung des Erwerbers Lage, Größe, Grundriss und Umfang seines heute gekauften Sondereigentums und etwaiger ihm zugeordneter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50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51 Sondernutzungsrechte nicht geändert werden dürfen, sowie der Mitgebrauch des gemeinschaftlichen Eigentums des betreffenden Erwerbers bei wirtschaftlicher Betrachtung nicht unzumutbar beeinträchtigt werden darf. Untervollmacht kann erteilt werden. Die Vollmacht erlischt sechs Monate nach Umschreibung der letzten verkauften Raumeigentumseinheit im Grundbuch. Vollmacht und Untervollmacht können nur vor dem amtierenden Notar oder dessen Vertreter im Amt ausgeübt werden. n) Rücktritt nach Vertragsannahme Nach Unterzeichnung des notariellen Kaufvertrages ist ein Rücktritt vom Vertrag nur noch nach den gesetzlich vorgesehenen Gründen möglich (§§ 634, 636 BGB). Dabei sind die Voraussetzungen des Rücktritts limitiert und greifen nur bei schwerwiegenden Gründen . Damit wird dem Rechtsgrundsatz Rechnung getragen, dass gemeinschaftlich ausgehandelte Verträge für beide Seiten bindend sind. o) Eigentumsumschreibung Der Eigentumsübergang auf den Käufer erfolgt durch seine Eintragung im neu gebildeten Wohnungseigentumsgrundbuch. Voraussetzung dafür sind grundsätzlich die vollständige Zahlung des Kaufpreises nach Fälligkeit und die Vorlage der Unbedenklichkeitsbescheinigung des Finanzamtes (Nachweis über die Bezahlung der Grunderwerbsteuer). Gegebenenfalls können die Erklärungen zur Auflassung in einer Nachtragsurkunde erfolgen. Zur Sicherung des Anspruchs auf Eigentumsumschreibung wird im Grundbuch zunächst eine sog. Auflassungsvormerkung eingetragen, die bei Eintragung des Käufers als Eigentümer wieder zur Löschung kommt. 3. Verwaltung des Gemeinschaftseigentums Entsprechend der Erläuterungen in diesem Prospekt wird voraussichtlich die Firma {{VERWALTER_NAME}} (geschäftsansässig: {{VERWALTER_STRASSE}}, 39104 Magdeburg) durch die Verkäuferin zum ersten WEG-Verwalter der Liegenschaft {{PROJEKT_ADRESSE}} in {{PROJEKT_PLZ_STADT}} bestellt und erhält entsprechende Vollmachten für die Wohnungseigentümergemeinschaft übertragen. Des Weiteren übernimmt sie voraussichtlich auch die Verwaltung des Denkmalgebäudes und des Tonnengewölbes entsprechend der Teilungserklärung vom 19.12.2023 UVZ-Nr. 2175/2023, da es sich um eine Wohnungseigentümergemeinschaft handelt. Der guten Ordnung wird darauf hingewiesen, dass Beschlüsse, die das gesamt Gemeinschaftseigentum der Wohnanlage betreffen, folgende Stimmrechte festgelegt wurden: jeweils 1/3 Stimmrecht für das Neubaugebäude, 1/3 für das zu sanierende Altbaugebäude und 1/3 für das Tonnengewölbe.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51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52 Das „Gesetz zur Förderung der Elektromobilität und zur Modernisierung des Wohnungseigentumsgesetzes und zur Änderung von kosten- und grundbuchrechtlichen Vorschriften (Wohnungseigentumsmodernisierungsgesetz – WEMoG in BGBL I 2020, S. 2187 vom 22.10.2020)“, führt mit Wirkung zum 01.12.2020 zu zahlreichen Änderungen am Wohnungseigentumsgesetz. Das Bundesjustizministerium hat die Zielsetzungen des neuen Gesetzes wie folgt erläutert: • jede Wohnungseigentümerin und jeder Wohnungseigentümer erhält im Grundsatz einen Anspruch darauf, dass ihr bzw. ihm auf eigene Kosten der Einbau einer Lademöglichkeit für ein Elektrofahrzeug, der barrierefreie Aus- und Umbau sowie Maßnahmen des Einbruchsschutzes und zum Glasfaseranschluss gestattet werden. • Die Beschlussfassung über bauliche Veränderungen der Wohnanlage wird vereinfacht, insbesondere für Maßnahmen, die zu nachhaltigen Kosteneinsparungen führen oder die Wohnanlage in einen zeitgemäßen Zustand versetzen. Dabei werden Wohnungseigentümer zugleich vor unverhältnismäßigen Kosten geschützt. • Die Organisation der Verwaltung wird effizienter. Zugleich wird der Verwaltungsbeirat als Kontrollorgan gegenüber dem Verwalter gestärkt. • Die Qualität der Verwaltung wird erhöht, indem wir den Wohnungseigentümerinnen und Wohnungseigentümern die Möglichkeit geben, die Verwaltung einem zertifizierten Verwalter zu übertragen, der seine Sachkunde in einer Prüfung vor der Industrie- und Handelskammer nachgewiesen hat. • Die Online-Teilnahme an Versammlungen kann gestattet werden. • Das Streitpotential in der Gemeinschaft soll reduziert werden, indem streitträchtige Vorschriften klarer gefasst werden. Lässt sich ein Streit nicht vermeiden, soll eine Änderung der gerichtlichen Verfahrensvorschriften eine effiziente Streitbeilegung fördern. Somit sind aus Sicht des Käufers zunächst folgende Regelungen zu beachten: • Kraft Gesetzes (§ 26 Abs. 1 S. 1, 2. HS WoEigG) ist die Verwaltererstbestellung auf die Dauer von drei Jahren ab Übergabe befristet. Maßgebend für den Beginn ist die Begründung der ersten Sondereigentumseinheit. Eine wiederholte Bestellung kann durch Beschluss der Eigentümerversammlung erfolgen. • Der Verwalter kann vor Fristablauf des Vertrages durch die Wohnungseigentümer jederzeit abberufen werden (§ 26 Abs. 3 WEG-neu). Spätestens sechs Monate nach der Abberufung endet der Verwaltervertrag. Das Vorliegen eines wichtigen Grundes für die Abberufung ist nicht mehr nötig. • In diesen Vertrag tritt der Käufer mit Übergang von Besitz/Nutzen und Lasten, spätestens mit Grundbucheintragung als Eigentümer ein. • Die im Gesetz (§§ 23 Abs. 2, 24, 27 und 28 WEG) vorgesehen einzelnen Aufgaben und Befugnisse des Verwalters finden sich im Verwaltervertrag. • Die zurzeit gültige reguläre Vergütung des Verwalters beträgt gemäß Leistungskatalog je Wohnungseigentum monatlich derzeit 19,99 € inkl. der momentan gültigen gesetzlichen Umsatzsteuer. Zusatzleistungen sind gemäß Verwaltervertrag, gesondert zu honorieren. • Aufgrund der gesetzlichen Grundlage (WoEigG), dem Verwaltervertrag nebst Vollmacht, der Gemeinschaftsordnung (Teil der Verweisurkunde) und den Beschlussfassungen kann der Verwalter, die Wohnungseigentümergemeinschaft im Rechtsverkehr vollumfänglich vertreten.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52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53 Das Gebäude dient grundsätzlich zu Wohnzwecken. Gewerbliche Nutzung und freiberufliche Praxen sind in den Wohnungen nur mit schriftlicher Zustimmung des Verwalters zulässig (Anlage I Teilungserklärung/Gemeinschaftsordnung § 4). Die Zustimmung kann mit Auflagen zur Erhaltung des Wohncharakters versehen werden; ein Rechtsanspruch besteht nicht. Die Zustimmung ist frei widerruflich, wenn mit gewerblichen Tätigkeiten Einwirkungen auf das gemeinschaftliche Eigentum oder auf fremdes Sondereigentum verbunden sind, die über das in einem Wohnhaus zumutbare Maß hinausgehen. Der guten Ordnung halber sei darauf hingewiesen, dass diese Zustimmung nicht für die Ausübung einer beruflichen Tätigkeit eines Wohnungseigentümers im sog. „Home-Office" gilt. Hierfür ist eine Zustimmung des Verwalters oder der Wohnungseigentümergemeinschaft nicht notwendig. Das Sondereigentum ist veräußerlich und vererblich. Bei Wiederverkauf ist keine Zustimmung durch den Verwalter oder eines anderen Sondereigentümers erforderlich. Die Person des Käufers und das Datum des Besitzübergangs sind jedoch dem Verwalter durch den Verkäufer unverzüglich anzuzeigen Der Käufer muss dafür Sorge tragen, dass Rechte und Pflichten aus der Teilungserklärung und der Gemeinschaftsordnung sowie den bisherigen Beschlussfassungen dem Rechtsnachfolger auferlegt werden. Die Vermietung und Verpachtung der Eigentumswohnung ist dem Verwalter anzuzeigen. Die Wohnungseigentümer haben sich verpflichtet, eine laufende Instandhaltungsrücklage für das Gemeinschaftseigentum zu bilden. Die Höhe der Beträge wird zunächst mit mtl. 0,30 €/m² für die Wohneinheit festgelegt. Die Höhe der Beträge wird dann in der Folge durch die Eigentümerversammlung (neu) festgelegt und kann zukünftig Anpassungen unterliegen. Im Fall der Weiterveräußerung der Eigentumswohnung kann der Käufer keine Auszahlung seines Anteils an der Instandhaltungsrücklage und an dem sonstigen Verwaltungsvermögen verlangen, sondern die Ansprüche gehen auf seinen Rechtsnachfolger über. 4. Verwaltung des Sondereigentums Es obliegt der Entscheidung des Käufers, ob er für die Verwaltung seiner vermieteten Eigentumswohnung eine Hausverwaltung beauftragt oder dies eigenverantwortlich erledigt. Das Unternehmen {{VERWALTER_NAME}} wird voraussichtlich dem Käufer die Möglichkeit zum Abschluss einer Sondereigentumsverwaltung für eine monatliche Vergütung je Eigentumswohnung von 19,99 € inkl. der momentan gültigen gesetzlichen Umsatzsteuer offerieren. Wenn dieses Angebot für den Käufer in Betracht kommt, so kann er einen konkreten Verwaltervertrag für seine Eigentumswohnung abschließen. Es steht ihm aber frei, auch ein anderes Unternehmen mit der Verwaltung zu beauftragen. Sollte er sich zu einer Fremdverwaltung seines Eigentums durch eine Hausverwaltung entscheiden, sind dann auch zur Vertragserfüllung die notwendigen Vollmachten zu erteilen, damit Mietverträge abgeschlossen und gekündigt werden können und das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53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54 Mietinkasso stattfinden kann (Einzug der Miete, Mietnebenkosten) sowie Mietkaution eingezogen werden und die Ermächtigung, Mietrückstände gerichtlich geltend zu machen. 5. Mietgarantie Der Verkäufer gewährt dem Käufer eine Garantie für den Fall der Nichtvermietung der Wohnung für die Dauer von drei Monaten ab dem Zeitpunkt der garantierten Fertigstellung. Die Mietgarantie wird nach Ablauf dieses Zeitraums, spätestens zum 15.04.2028, in Höhe der Kaltmiete von 20,-€/m² pro Monat für jeden Monat gezahlt, in dem die Wohnung im Zeitraum vom 01.01.2028 bis 31.03.2028 nicht vermietet war. Lehnt der Käufer vorgeschlagene, zahlungsfähige Mieter einmal ab ist die Verkäuferin von der nachstehend vereinbarten Haftung für den Mietausfall befreit. Schlägt die Verkäuferin dem Käufer einen Mieter zu einer geringeren als vorstehend vereinbarten Netto-Kaltmiete (EUR 18,00/m²) vor, kann der Käufer entweder den Vorschlag annehmen und die Mietgarantie ist damit abgegolten. Bei Selbstvermietung ist die Verkäuferin von der nachstehend vereinbarten Haftung für den Mietausfall befreit. Allerdings umfasst die garantierte Mietzahlung nicht die Mietnebenkosten und Hausgelder. Der Käufer trägt deshalb das Risiko, der durch die Mietgarantie nicht abgedeckten Kosten. Solche Kosten können aus diversen Gründen entstehen: außergewöhnliche Instandhaltungsmaßnahmen (Instandhaltungsrücklage insoweit nicht ausreichend), Nebenkostennachzahlung beim Mieter wirtschaftlich nicht einbringbar (keine ausreichenden Vorauszahlungen vorhanden), Wohnungsrenovierung bei Neuvermietung (Altmieter kann nicht in Regress genommen werden), Leerstandskosten bis zur Neuvermietung (Strom und andere Medien müssen weitergezahlt werden, öffentliche Steuern und Abgaben laufen weiter. Weiterhin ist zu beachten, dass die Verkäuferin mit der Abgabe der Mietgarantie keine Gewähr für die Bonität des vorhandenen und eventuell eines neu einziehenden Mieters übernimmt. Der Käufer muss sich darüber im Klaren sein, dass nach Ablauf der Mietgarantie das Risiko besteht, dass er nicht mehr die bis dahin erzielten Mieteinnahmen erhält und zukünftig auch nicht den erwarteten Mietzins erreichen kann, da die dann am Markt erzielbare Miete unterhalb des garantierten Mietzinses liegen könnte. Dazu kommt das generelle Risiko der Zahlungsunwilligkeit und Zahlungsunfähigkeit des Mieters, welches jeder Vermieter zu tragen hat.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54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55 Steuerliche Gestaltung Objekt „{{PROJEKT_TYP}}“ – {{PROJEKT_ADRESSE}}, {{PROJEKT_PLZ_STADT}}, Stand {{PROSPEKT_DATUM}} In diesem Abschnitt des Prospektes werden die steuerrechtlichen Konsequenzen im Zusammenhang mit Immobilieninvestments nach der geltenden Gesetzeslage im {{STAND_STEUER}} erläutert. Dabei ist zu berücksichtigen, dass es sich um {{ANZAHL_WE}} Eigentumswohnungen (Mikroapartments) in fünfgeschossiger Bauweise in einem Mehrfamilienhaus in der Liegenschaft {{PROJEKT_ADRESSE}} in {{PROJEKT_PLZ_STADT}} handelt. Alle Hinweise verstehen sich dabei unter der Annahme, dass es sich bei dem Erwerber um eine natürliche Person handelt, die in Deutschland unbeschränkt einkommensteuerpflichtig ist und die Immobilie im Privatvermögen hält. Bei Erwerbern, die diese Voraussetzungen nicht erfüllen (z. B. Körperschaften, ausländische Staatsangehörige ohne inländische Steuerpflicht oder Personen, die die erworbene Immobilie im Betriebsvermögen halten), treffen die untenstehenden Ausführungen nicht oder nur eingeschränkt zu. Das gleiche gilt für Interessenten, die die Immobilie nicht zur Vermietung, sondern zur Eigennutzung erwerben wollen. A. Steuerrechtliche Themen 1. Überschussprognose Grundsätzlich ist für die einkommensteuerrechtliche Anerkennung durch die Finanzverwaltung maßgebend, dass der Erwerb und die Nutzung der Eigentumswohnung zur Fremdvermietung keine Liebhaberei darstellt. Bei einer auf Dauer angelegten Vermietungstätigkeit geht der Bundesfinanzhof in ständiger Rechtsprechung grundsätzlich und typisierend von einer Überschusserzielungsabsicht aus. Maßgeblich ist, dass mindestens 66 % der ortsüblichen Vergleichsmiete erzielt werden. Diese Regelung wurde ab 01.01.2021 für den Steuerlichen Veranlagungszeitraum 2021 dahingehend geändert (§ 21 Abs. 2 S. 1 EStG als Teil des Jahressteuergesetzes 2020 JStG 2020), dass auch 50 % der ortsüblichen Vergleichsmiete ausreichend sind. Allerdings hat das Finanzamt dann die Möglichkeit vom Vermieter eine Prognose über die Einnahmen und Ausgaben über 30 Jahre zu verlangen, damit die Einkünfteerzielungsabsicht nachgewiesen wird (sog. Totalüberschussprognose). Inwieweit diese Regelung dem Vermieter zum Vorteil gereichen wird, kann aufgrund noch fehlender Anwendungsfälle nicht abschließend beurteilt werden. 2. Modellhafte Gestaltungen gem. § 15b EStG Durch das Gesetz zur Beschränkung des Verlustabzugs im Zusammenhang mit Steuerstundungsmodellen vom 22.12.2005 wurde der § 15b EStG eingefügt. Von einem</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55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56 Steuerstundungsmodell ist dann die Rede, wenn aufgrund der modellhaften Gestaltung Steuervorteile in Form negativer Einkünfte erzielt werden sollen. Dabei soll dies nur dann gelten, wenn innerhalb der Verlustphase im Verhältnis zur Höhe des nach dem Konzept gezeichneten Kapitals die Gesamtheit der prognostizierten Verluste das eingesetzte Eigenkapital 10 von Hundert übersteigt. Besondere Ausprägungen sind daher Medienfonds, Schiffsbeteiligungen, Flugzeugbeteiligungen, geschlossene Immobilienfonds und ähnliche Konstruktionen. Bauträger sind grundsätzlich von den Restriktionen des § 15b EStG nicht ausgenommen. Das Bundesfinanzministerium (BMF) hat aber in seinen Schreiben vom 17.07.2007 (BStBl. I 2007, Seite 542 ff.) und 29.01.2008 (DStR 2008, Seite 561) festgehalten, dass der bloße Erwerb einer (in diesem speziellen Fall noch zu sanierenden) Wohnung von der Verkäuferin grundsätzlich keinen Fall der modellhaften Gestaltung und damit kein schädliches Steuerstundungsmodell darstellt. Diese Regelung kann aber auch entsprechend auf den vorliegenden Neubau angewendet werden. Für die Modellhaftigkeit typisch ist die Bereitstellung eines Bündels an Haupt-, Zusatzund Nebenleistungen; letztere führen zu einer Schädlichkeit des Vertragswerks, wenn sie es nach dem zugrunde liegenden Konzept ermöglichen, den sofort abziehbaren Aufwand zu erhöhen (vgl. BMF-Schreiben vom 17.07.2007 Gz. IV B 2 – S 2241 – b/07/0001, Dok. 2007/0299270). Wird dem Käufer eine entgeltliche Neben- und Zusatzleistung z. B. durch die Gewährung einer Mietgarantie oder einer Bürgschaft für die Endfinanzierung zur Verfügung gestellt, verzichtet der Käufer jedoch auf die Neben- und Zusatzleistung, liegen unterschiedliche Vertragskonstruktionen vor, die jeweils für sich auf ihre Modellhaftigkeit geprüft werden müssen (käuferbezogene Betrachtungsweise). Dabei kommt es nicht darauf an, dass diese Neben- und Zusatzleistungen durch den Verkäufer selbst gewährt werden, sondern es reicht auch aus, wenn dem Verkäufer nahestehende Personen, mit ihm verbundene Gesellschaften oder Dritte, die er dem Käufer empfohlen hat, als Anbieter auftreten (vgl. zur Thematik BFH-Urteil vom 06.02.2014 Az.: IV R 59/10 BStBl. 2014 II S. 456). Leistungen, die der ordnungsgemäßen Bewirtschaftung und Verwaltung der Liegenschaft dienen (z. B. WEG-Verwaltung, Sondereigentumsverwaltung) sind dagegen unschädlich, sofern nicht gleichzeitig verpflichtende Vorauszahlungen für mehr als 12 Monate vereinbart sind/werden. Ein Verkaufsprospekt per se führt nicht zur Annahme der Modellhaftigkeit, sondern es bedarf der Prüfung des konkreten Inhaltes des Prospektes, ob es sich tatsächlich um schädliche Nebenleistungen im Einzelfall handelt. Die Entscheidung über das Vorliegen schädlicher Leistungen wird allerdings dabei durch das für den Steuerpflichtigen zuständige Finanzamt getroffen (vgl. BMF-Schreiben vom 29.01.2008 GZ: IV B 2 S 2176/07/001 Dok. 2008/0027617). Aufgrund der bisherigen Anwendung der Vorschrift des § 15b EStG ergibt sich noch keine dauerhafte Anwendungspraxis der Finanzverwaltung und keine damit korrespondierende Rechtsprechung für den Ankauf von Eigentumswohnungen, so dass es zu diesem Thema noch keine abschließende Rechtssicherheit gibt.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56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57 3. Abgrenzung zwischen privater Vermögensverwaltung und gewerblichem Grundstückshandel Sobald die Fremdvermietung steuerlich relevant ist, muss abgegrenzt werden, ob es sich um einen Fall der Vermietung und Verpachtung (Einkünfte nach § 21 EStG) oder um Einkünfte aus einem Gewerbebetrieb handelt (Einkünfte nach § 15 EStG). Nach ständiger Rechtsprechung des Bundesfinanzhofes (BFH) liegt eine private Vermögensverwaltung vor, wenn der Käufer die Eigentumswohnung dauerhaft an Fremde zur Nutzung überlässt. Im Interesse der Rechtssicherheit hat der BFH zur Abgrenzung der privaten Vermögensverwaltung vom gewerblichen Grundstückshandel die sog. Drei-Objekte-Grenze entwickelt, die die Grundstücksverkäufe betrifft, nicht aber vom Grundsatz her bereits Grundstücks- bzw. Immobilienerwerbe. Für den klassischen Fall des privaten Anlegers mit branchenfremdem Beruf und Besitz einzelner Eigentumswohnungen ist hingegen die Rechtslage klar. Werden innerhalb eines Zeitraums von 5 Jahren nach Abschluss des Kaufvertrages mehr als 3 Objekte veräußert, geht die Finanzverwaltung davon aus, dass die Grenze der privaten Vermögensverwaltung überschritten wurde (ständige Rechtsprechung des BFH zuletzt BFH-Urteil vom 15.01.2020 Az.: X R 18,19/18 veröffentlicht am 16.07.2020 sowie BFH 06.12.1986 VIII 317/82, BStBl. II 1988, 244; 10.12.2001 – GrS 1/98, BStBl. II 2002, 291 und BMF-Rundschreiben vom 26.03.2004, BStBl. I 2004, 434 zum gewerblichen Grundstückshandel). Damit handelt es sich dann um einen Fall des gewerblichen Grundstückshandels, da die Finanzverwaltung unterstellt, dass durch diese Veräußerungen die vorhandene Wertsteigerung realisiert werden soll. Der Veräußerungsgewinn berechnet sich aus dem Veräußerungspreis abzüglich der Anschaffungs- und Nebenkosten sowie den bisher geltend gemachten Abschreibungen (Normal-Abschreibungen genauso wie z. B. erhöhte Abschreibungen nach § 7h oder § 7i EStG). Die daraus entstehenden Gewinne unterliegen dann der Besteuerung nach § 15 EStG und der Einkommensteuer nach § 21 EStG. Außerdem ist zu berücksichtigen, dass die 5-Jahres-Frist keine starre Grenze darstellt. Sofern dem Steuerpflichtigen eine bereits vor Ablauf der 5 Jahre bestehende bedingte Veräußerungsabsicht unterstellt bzw. nachgewiesen werden kann, führen auch Veräußerungen kurz nach Ablauf der 5 Jahre noch zur Annahme eines „Zählobjektes“ im Sinne der Drei-Objekte-Grenze. Weitergehende Erläuterungen zu dieser Thematik erteilt jeder Steuerberater. Aus welchem Grund eine Veräußerung stattfindet, spielt keine Rolle. Ein eigentlich nicht gewollter, aber von Dritten (z. B. der Gläubigerbank) aufgezwungener Notverkauf wird genauso behandelt, wie ein planmäßig durchgeführter Verkauf. Daneben ist im Bereich der Vermietung und Verpachtung noch die 10-jährige Spekulationsfrist (§ 23 Abs. 1 Nr. 2 EStG) zu beachten, in der potenzielle Veräußerungsgewinne steuerpflichtig sind, sofern nicht im Veräußerungszeitpunkt eine bereits mindestens 2 Kalenderjahre dauernde Privatnutzung vorliegt bzw. im Fall 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57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58 Veräußerung vor Ablauf der 2 Kalenderjahre seit Anschaffung eine durchgehende Privatnutzung bestand. 4. Überschuss Sollte der Käufer seine Tätigkeit als Vermieter im Rahmen der privaten Vermögensverwaltung ausüben, so erzielt er Einkünfte aus Vermietung und Verpachtung im Sinne des § 21 EStG. Die sog. Überschussermittlung erfolgt durch die Gegenüberstellung von Einkünften aus Vermietung und/oder Verpachtung und den im Zusammenhang mit der Vermietung angefallenen Werbungskosten. Durch die mit den Abschreibungen erhöhten Werbungskosten entstehen Barwert-/Zinsvorteile, die der Käufer in vielerlei Hinsicht nutzen kann (z. B. auch zu Sondertilgungen). 5. § 10d EStG – Verlustverrechnung Nach § 10d EStG können die Verluste in dem Veranlagungsjahr, in dem der Verlust entstanden ist, mit den positiven Einkünften aus allen Einkunftsarten und bis zu deren Höhe betragsmäßig unbegrenzt verrechnet werden. Sollten trotz Verrechnung noch Verluste bestehen bleiben, so können diese auf der Grundlage der Rechtslage gemäß § 10d Abs. 1 EStG übersteigenden Verluste, bis zu einem Betrag von 1.000.000,00 € in das vorangegangene steuerliche Veranlagungsjahr zurückgetragen werden (bei zusammen veranlagten Ehegatten erhöht sich der Betrag auf 2.000.000,00 €). Auf Antrag des Steuerpflichtigen ist ganz oder teilweise von der Anwendung der Rückübertragungsmöglichkeit abzusehen. Nach § 10d Abs. 2 EStG besteht die Möglichkeit, wenn kein Verlustrücktrag erfolgt, die Verluste in die Folgejahre unbegrenzt vorzutragen. Der Verlustvortrag ist in den folgenden Veranlagungsjahren bis zu 1 Mio. € (bei zusammen veranlagten Ehegatten 2 Mio. €) des jährlichen Gesamtbetrages der Einkünfte und der darüberhinausgehende Anteil bis zu 60 % des Gesamtbetrages der Einkünfte abziehbar (vgl. § 10d EStG). Nicht verrechnete Verluste werden weiter vorgetragen. 6. Werbungskosten bei Fremdnutzung a) Werbungskosten Werbungskosten sind alle Aufwendungen, die zum Erwerb, zur Sicherung und Erhaltung von Einnahmen dienen. Bei der Fremdnutzung der Eigentumswohnung durch Vermietung erzielt der Eigentümer i. d. R. Einkünfte aus Vermietung und Verpachtung. Diese Einkünfte verringern sich um die zugehörigen Werbungskosten, wozu bei den Vermietungseinkünften aus Immobilien auch die Absetzung für Abnutzung (AfA) auf das Gebäude bzw. den Gebäudeanteil (§ 7 Abs. 4 EStG) gehört. Typische (laufende) Werbungskosten bei den Einkünften aus Vermietung und Verpachtung – wie z. B.</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58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59 Fremdkapitalzinsen, sonstige Finanzierungskosten, Betriebskosten, Verwaltungskosten, Grundsteuer etc. – sind im Veranlagungsjahr der Zahlung sofort abziehbar. b) Abgrenzung anschaffungsnaher Herstellungskosten von sofort abzugsfähigem Erhaltungsaufwand Gemäß § 6 Abs. 1 Nr. 1a EStG gehören zu den Herstellungskosten eines Gebäudes auch Aufwendungen für Instandsetzungs- und Modernisierungsmaßnahmen, die innerhalb von drei Jahren nach der Anschaffung der Liegenschaft durchgeführt werden, wenn diese Aufwendungen (ohne Umsatzsteuer) 15 % der Anschaffungskosten des Gebäudes übersteigen (anschaffungsnahe Herstellungskosten) und sie unterliegen den dafür geltenden Abschreibungsregelungen. Im vorliegenden Fall wird diese Regelung, da die Liegenschaft ein Neubau ist, nicht in Betracht kommen. 7. Disagio und Damnum Die Differenz zwischen dem Ausgabebetrag und dem Nennbetrag eines Darlehens wird als Disagio bezeichnet. Das Damnum ist die Differenz zwischen dem Rückzahlungsbetrag und dem Auszahlungsbetrag eines Darlehens. Mit BMF-Schreiben vom 20.10.2003 (BStBl. I 2003, Seite 546 ff.) wurde festgelegt, dass im Rahmen der Werbungskosten bei den Einkünften aus Vermietung und Verpachtung die Zahlung eines marktüblichen Disagio abgezogen werden darf, wenn es sich um einen Darlehensabschluss nach dem 31.12.2003 handelt, bei dem ein Zinsfestschreibungszeitraum von mindestens 5 Jahren vereinbart wurde und der Betrag des Disagios bei maximal 5 % liegt (vgl. auch BFH Urteil vom 08.03.2016, Az.: IX R 38/14). Diese Vorgabe erhöht die anfänglichen steuerlichen Verluste, da eine zeitliche Vorverlagerung von vertraglichen Kosten stattfindet. Gleiches gilt auch bei der steuerlichen Anerkennung des Damnums. Es ist allerdings zu berücksichtigen, dass ein Fall einer modellhaften Gestaltung bei einer gleichgerichteten Vermittlung vorliegen könnte. Dies muss individuell durch den Käufer unter Einbindung seines Steuerberaters geprüft werden. 8. Lineare Abschreibungen a) Allgemeiner Grundsatz Nach der bis zum 31.12.2022 geltenden Gesetzeslage (galt für alle Gebäude, die nach dem 31.12.1924 fertig gestellt wurden) konnte der Steuerpflichtige die Abschreibung der Gebäudeherstellungskosten oder Gebäudeanschaffungskosten vornehmen, wobei eine maximale Abschreibung von 50 Jahren anzunehmen war. Diese sog. lineare Abschreibung (AfA) lag bei 2,0 % im jährlichen Veranlagungszeitraum.</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59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60 b) Neuregelung durch Jahressteuergesetz 2022 Das Jahressteuergesetz 2022 (JStG 2022 in BGBL 2022 TeiI 1 Nr. 51 vom 20.12.2022) sieht nunmehr vor, dass neue Gebäude, die nach dem 31.12.2022 fertiggestellt werden mit 3% p.a. abzuschreiben sind, was einer neuen Nutzungsdauer von 33 anstelle 50 Jahren entspricht (§ 7 Abs. 4 Satz 1 Nr. 2 EStG Gebäude-Afa). Diese kürzere Abschreibungsdauer hat aber keinen Einfluss auf die Beurteilung der tatsächlichen Nutzungsdauer von Wohngebäuden, dies wird weiterhin regelmäßig 50 Jahre betragen. Der neue AfA-Satz gilt nun für den Steuerlichen Veranlagungszeitraum ab 2023. Im vorliegenden Fall gilt daher die erhöhte Abschreibung von 3% p.a. c) Degressive Sonderabschreibung für die Wohngebäude ab Baubeginn 01.10.2023 befristet bis vor dem 30.09.2029 Der Bundestag hatte am 17.11.2023 das sog. „Wachstumschancengesetz“ (Entwurf eines Gesetzes zur Stärkung von Wachstumschancen, Investitionen und Innovation sowie Steuervereinfachung und Steuerfairness BT DS 20/8628 Stand 02.10.2023) beschlossen. Der Bundesrat hatte dem Gesetz in der Sitzung vom 24.11.2023 nicht zugestimmt, sondern den Vermittlungsausschuss angerufen. Der Bundesrat kritisierte, dass der Bundestagsbeschluss die zahlreichen Änderungsvorschläge des Bundesrates aus dessen ausführlicher Stellungnahme im ersten Durchgang zum zugrundeliegenden Gesetzentwurf der Bundesregierung nur punktuell übernommen hat. Auch aufgrund der vielen kurzfristigen Ergänzungen im Bundestagsverfahren bestehe Überarbeitungsbedarf (Quelle: BundesratKompakt zu Top 59 der Sitzung vom 24.11.2023. Nach intensiven politischen Auseinandersetzungen zwischen Bund und Ländern hat der Bundestag am Freitag, 23. Februar 2024, das sogenannte Wachstumschancengesetz ohne die Klimaschutz-Investitionsprämie zur Förderung der Transformation der Wirtschaft beschlossen. Der Bundesrat hat am 22.03.2024 dem Wachstumschancengesetz zugestimmt. (Quelle: https://www.bmwsb.bund.de/SharedDocs/kurzmeldungen/Webs/BMWSB/DE/2024 /03/degressive-afa.html). Das sind die Konditionen der befristeten degressiven AfA, so wie es das Gesetz für den § 7 Abs. 5a EStG vorsieht: • Die degressive AfA wird ausschließlich für neu gebaute Wohngebäude und Wohnungen ermöglicht. • Der Baubeginn des Wohngebäudes muss zwischen dem 01.10.2023 und dem 30.09.2029 liegen. • Beim Kauf einer Immobilie muss der Vertrag zwischen dem 01.10.2023 und dem 30.09.2029 rechtswirksam geschlossen werden. Die Immobilie muss bis zum Ende des Jahres der Fertigstellung erworben werden. • Die Abschreibung in Höhe von fünf Prozent wird für Gebäude ermöglicht, die Wohnzwecken dienen und die vom Steuerpflichtigen hergestellt oder bis zum</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60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61 Ende des Jahres der Fertigstellung angeschafft worden sind. Im ersten Jahr können 5% der Investitionskosten steuerlich gemacht werden. In den folgenden Jahren jeweils 5% bezogen auf den dann vorhandenen Restwert bis zu einer Gesamtlaufzeit der degressiven AfA von 6 Jahren. • Im Jahr der Anschaffung oder Herstellung erfolgt die Abschreibung zeitanteilig. • Es gibt ein Wahlrecht zur linearen AfA nach § 7 Abs. 4 EStG zu wechseln. • Solange die degressive AfA vorgenommen wird, sind Absetzungen für außergewöhnliche technische oder wirtschaftliche Abnutzungen nicht zulässig. Soweit die eintreten, kann zur linearen AfA gewechselt werden. • Die degressive AfA kann für alle Wohngebäude, die in einem Mitgliedstaat der Europäischen Union oder des Europäischen Wirtschaftsraumes belegen sind, in Anspruch genommen werden. d) Kaufpreisaufteilung Da bei den Einkünften die AfA aber nicht für das Grundstück bzw. den Grundstücksanteil mindernd angesetzt werden kann, sind die Anschaffungskosten (Kaufpreis, Notar- und Gerichtskosten, Grunderwerbsteuer, Finanzierungskosten usw.) in einen (abschreibungsfähigen) Anteil für das Gebäude und einen (nicht abschreibungsfähigen) Anteil für das Grundstück aufzuteilen. Für diese Aufteilung zwischen Gebäude- und Grundstücksanteil sind einerseits die Größe und Lage des Gesamtgrundstücks, die Größe des erworbenen Miteigentumsanteils sowie der Verkehrswert des Grundstücks, der wiederum von dem auf kommunaler Ebene ermittelten Bodenrichtwert abgeleitet werden kann, maßgeblich. Zur Ermittlung der Bemessungsgrundlage für Absetzungen für Abnutzung von Gebäude ist es in der Praxis häufig erforderlich, einen Gesamtkaufpreis für ein bebautes Grundstück auf das Gebäude, das der Abnutzung unterliegt, sowie den nicht abnutzbaren Grund und Boden aufzuteilen. Nach der höchstrichterlichen Rechtsprechung ist ein Gesamtkaufpreis für ein bebautes Grundstück nach dem Verhältnis der Verkehrswerte oder Teilwerte auf den Grund und Boden einerseits sowie das Gebäude andererseits aufzuteilen. Das Bundesministerium der Finanzen stellt daher eine “Arbeitshilfe zur Aufteilung eines Gesamtkaufpreises für ein bebautes Grundstück (Kaufpreisaufteilung)” mit letztem Stand vom Januar 2025 als xls-Datei zur Verfügung, die es unter Berücksichtigung der höchstrichterlichen Rechtsprechung ermöglicht, in einem typisierten Verfahren entweder eine Kaufpreisaufteilung selbst vorzunehmen oder die Plausibilität einer vorliegenden Kaufpreisaufteilung zu prüfen. Zusätzlich steht eine Anleitung für die Berechnung zur Aufteilung eines Grundstückskaufpreises zur Verfügung. (Fundstelle: https://www.bundesfinanzministerium.de/Content/DE/Standardartikel/Themen/Steuern /Steuerarten/Einkommenssteuer/2025-01-24-Berechnung-AufteilungGrundstueckskaufpreis.html)</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61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62 Nach Auffassung der Finanzverwaltung handelt es sich dabei um eine qualifizierte Schätzung. Im Einzelfall kann es geraten sein, diese qualifizierte Schätzung der Aufteilung der Anschaffungskosten über ein gesondertes Wertgutachten eines Sachverständigen entkräften zu lassen. Der BFH hat diesbezüglich mit Urteil vom 21.07.2020 (Az.: IX 26/19 veröffentlicht am 26.11.2020 in NJW 2021,413) entschieden, dass durch die pauschalen Annahmen der Arbeitshilfe insbesondere lokale Besonderheiten zu wenig berücksichtigt werden. Die Finanzverwaltung ist zwar nicht daran gehindert, weiterhin die Arbeitshilfe zu verwenden. Sobald jedoch der Streit über die Kaufpreisaufteilung zum Finanzgericht getragen wird, ist das Finanzgericht in der Regel gehalten, ein Gutachten eines öffentlich bestellten und vereidigten Sachverständigen für die Bewertung von Grundstücken einzuholen. Da die Festsetzung der Einkommensteuer und der Besteuerungsgrundlagen den jeweiligen Wohnsitzfinanzämtern vorbehalten ist, kann keine generell verbindliche Aussage zu dem Ergebnis der jeweiligen Aufteilung der Anschaffungskosten gemacht werden. Erfahrungsgemäß bewegt sich die Bandbreite für den Grundstücksanteil zwischen 15 % und 30 % der gesamten Anschaffungskosten. Im vorliegenden Fall liegt dieser Anteil bei ca. 2,2 %. Über die Aufteilung des Kaufpreises auf Grund und Boden und Anschaffungskosten für das Gebäude entscheiden letztlich die Finanzverwaltung bzw. die Finanzgerichte, wodurch Abweichungen von den im Prospekt niedergelegten Erwartungen bezüglich der steuerlich abzugsfähigen Beträge nicht ausgeschlossen sind. e) Außenanlagen und Möblierung Zu erstellende Außenanlagen (z. B. Gartenanlagen, Hofgestaltungen, Kinderspielplätze etc.), sind – unabhängig vom Gebäude – in der Regel über eine Dauer von zehn Jahren nach § 7 Abs. 1 EStG linear abzuschreiben. Die Wohnungen werden möbliert verkauft. Hierzu hat der Käufer 2 Möglichkeiten. Entweder wird der Kaufpreis für das Mobiliar im Rahmen des Kaufvertrages separat ausgewiesen und in zwei Raten, nämlich 50% bei Rohbaufertigstellung und der Rest ca. 4 Wochen vor Lieferung/Einbau, voraussichtlich im Februar 2027, bezahlt . Die andere Möglichkeit ist ein separater Möbelkaufvertrag bei gleichbleibenden Zahlungsbedingungen. Der guten Ordnung halber wird der Käufer darauf hingewiesen, dass es im Hinblick auf das Mobiliar eine geänderte Abschreibungsregelung gibt und die Gewährleistung sich aus §§ 433 ff. BGB ergibt. Für die Abschreibung gilt die nachfolgende Regelung. Wer als Vermieter z.B. nachträglich eine (hochwertige) Einbauküche in der vermieteten Wohnung installiert, muss die Kosten dafür über einen Nutzungszeitraum von 10 Jahren gleichmäßig abschreiben (BFH, Urteil vom 03.01.2008, Az.: 14 K 4709/04 in openJur 2011, 52985). Die Anschaffungskosten für eine Einbauküche sind kein sofort abziehbarer Erhaltungsaufwand. Zu unterscheiden ist dabei die steuerrechtliche Abschreibung von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62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63 der mietrechtlichen Betrachtung, bei der im sogenannten „Hamburger Modell“ für die Bemessung des „Möblierungszuschlages“ auf die ortsübliche Miete von einer Nutzungsdauer von nur sieben Jahren ausgegangen wird. Gleiches hat der BFH für den Fall einer vollständigen Erneuerung einer vorhandenen Einbauküche (Spüle, Herd, Einbaumöbel und Elektrogeräte) durch den Vermieter angenommen (BFH Urteil vom 03.08.2016 Az.: IX R 14/15 in NJW 2017,1837). Es besteht allerdings die Möglichkeit, dass diese Einbauküche durch den Eigentümer bzw. Vermieter separat mit vermietet wird, so dass der Eigentümer im Gegenzug die monatliche Mietzahlung auf die Küche erhält, dafür obliegt die übliche Instandhaltungsverpflichtung. Dadurch kann der Vorteil der Mitvermietung der Küche schnell in einen Nachteil umschlagen, denn der Vermieter muss dann die entsprechenden Kosten tragen. Nach der aktuellen Rechtsprechung (AG Berlin-Neukölln, Urteil vom 14.11.2017, Az.: 18 C 182/17 und OLG Hamm, Urteil vom 31.03.2014, Az.: 5 U 168/13) empfiehlt sich stattdessen, dass die Einbauküche nur leihweise dem Mieter zur Verfügung gestellt wird. Daraus ergibt sich, dass der Vermieter nicht verpflichtet ist, die Küche in einem Zustand zu erhalten, der den vertragsgemäßen Gebrauch ermöglicht. Der Mieter hat dann die gewöhnlichen Kosten der Erhaltung zu tragen. In einer aktuellen Entscheidung wurde allerdings die Schadensverlagerung per Vertragsklausel auf den Mieter abgelehnt (AG Besigheim, Urteil vom 22.06.2023, Az.: 7 C 442/22). Enthält der Mietvertrag aber eine Klausel über die sogenannten Kleinreparaturen, so bezieht sich diese dann auch auf die mitvermietete Küche. Der guten Ordnung wird darauf hingewiesen, dass bei der Vermietung von Einrichtungsgegenständen (vgl. BFH Urteil vom 11.11.2015, Az.: V R 37/14) eine Umsatzsteuerbefreiung gilt. Die Finanzverwaltung hat aufgrund dieser Entscheidung im UStAE festgestellt, dass nach § 4 Nr. 12 Satz 1 a UStG bei der Vermietung von Grundstücken mit Einrichtungsgegenständen eine Umsatzsteuerbefreiung vorliegt. 9. Sonder-Afa nach § 7b EStG (Neu) Mit dem JStG 2022 hat der Gesetzgeber die zum 31.12.2021 ausgelaufene Sonderabschreibung für den Mietwohnungsneubau nach § 7b EStG reaktiviert. Ab 2023 können damit Neubauprojekte wieder verbessert abgeschrieben werden - sie müssen nun aber gewisse (Energie-)Effizienzvorgaben erfüllen. Um auch weiterhin Anreize zum Wohnungsneubau zu schaffen, hat der Gesetzgeber die Sonderabschreibung mit dem JStG 2022 vom 16.12.2022 nun zusätzlich auf Neubauprojekte erstreckt, bei denen der Bauantrag nach dem 31.12.2022 und vor dem 01.01.2027 gestellt worden ist (§ 7b Abs. 2 Nr. 1 EStG n.F.). Maßgeblich ist nach wie vor regelmäßig das Datum des Eingangsstempels der zuständigen (Bau-)Behörde. Ist bei einem Bauvorhaben keine Baugenehmigung erforderlich, muss in den Jahren 2023 bis 2026 die Bauanzeige getätigt worden sein. Damit in den Jahren 2023 bis 2026 beantragte Neubauprojekte über die Sonderabschreibung gefördert werden können, müssen die Gebäude nun zusätzlich die Kriterien eines "Effizienzhaus 40" mit Nachhaltigkeits-Klasse erfüllen; dies muss durch das Qualitätssiegel "Nachhaltiges Gebäude" (QNG) nachgewiesen werden (§ 7b Abs. 2 Nr. 2 EStG n.F.). Die neu geschaffene Wohnung muss ab dem Jahr der Anschaffung oder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63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64 Herstellung und in den folgenden neun Jahren der entgeltlichen Überlassung zu Wohnzwecken dienen. Ferner dürfen die Anschaffungs- und Herstellungskosten 5.200,00 EUR/m² nicht überschreiten. Die Bemessungsgrundlage für die Sonder-AfA liegt dann bei maximal 4.000,00 EUR/m². Das vorliegende Neubauprojekt wird die Effizienzhausklasse KFW EH40 QNG Plus Standard anstreben. Die Anschaffungskosten- und Herstellungskosten werden im vorliegenden Fall die 5.200,00 EUR/m² nicht überschreiten. Somit kommt eine Sonderabschreibung nach § 7b EStG in Betracht. 10. KfW-Förderung Die KfW-Förderbank bietet seit dem 01.07.2021 an, dass ein Antrag auf die neuen Förderkredite und Zuschüsse der Bundesförderung für effiziente Gebäude (BEG) gestellt werden kann (Richtlinie für die Bundesförderung für effiziente Gebäude- Wohngebäude (BEG WG) vom 20.05.2021 veröffentlicht am 07.06.2021 (BAnz AT 07.06.2021 B3). https://www.kfw.de/inlandsfoerderung/Privatpersonen/BestehendeImmobilie/F örderpr odukte/Bundesförrderung-für-effiziente-Gebäude-Wohngebäude-Kredit-(261262)/?redirect= 646464# Die Bundesregierung hat sich am 19.04.2023 auf Änderungen im Gebäudeenergiegesetz (GEG) verständigt. Demnach soll der Umstieg auf erneuerbare Energien beim Heizen ab dem 01.01.2024 verbindlich werden. In diesem Zuge soll auch die Bundesförderung für effiziente Gebäude (BEG) weiterentwickelt werden – mit dem Ziel, den Umstieg auf klimafreundliche Heizungen finanziell zu unterstützen. a) Klimafreundlicher Neubau-Wohngebäude (297/298) Zu diesem Zweck wurde die neue Förderung „Klimafreundlicher Neubau - Wohngebäude (297/298)“ eingeführt. Von einem Klimafreundlichen Wohngebäude ist dann die Rede, wenn es die KfW-Effizienzhaus Stufe 40 erreicht. Ergänzend dazu besteht die Möglichkeit eines Upgrades mittels Nachhaltigkeitszertifikates. Im vorliegenden Fall entsteht ein Mehrfamilienhaus mit Eigentumswohnungen als ein sog. KfW-Effizienzhaus, bei dem der Standard 40 QNG Plus erreicht wird. Die Effizienzhaus-Stufe gibt dabei die Klasse der Energieeffizienz an. Wer die Effizienzhaus-Stufe 40 erreicht und zusätzliche Anforderungen an die Nachhaltigkeit erfüllt, kann dafür eine Förderung erhalten. Die Kennzahl 40 gibt an, dass das Effizienzhaus nur 40 % Primärenergie benötigt, verglichen mit einem Referenzgebäude (nach Gebäudeenergiegesetz). Zudem liegt der Transmissionswärmeverlust bei nur 55 % des Referenzgebäudes. Der bauliche Wärmeschutz ist somit um 45 % besser. Dies bedeutet eine max. förderfähige Darlehenssumme bis zu 150 TEUR pro Wohneinheit, ab 1,13 % effektiver Jahreszins (Stand {{PROSPEKT_DATUM}}) bis zu 35 Jahren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64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65 Laufzeit und 10 Jahre Zinsbindung (Quelle: KfW https://www.kfw.de Klimafreundlicher Neubau-Wohngebäude 297/298). Voraussetzung für die Förderung ist allerdings, dass ein Experte oder eine Expertin für Energieeffizienz eingebunden wird. Da hier die Förderstufe „Klimafreundliches Wohngebäude mit QNG“ in Betracht kommt, wird zusätzlich ein Berater oder eine Beraterin für Nachhaltigkeit benötigt (weitere Hinweise vgl. die Abschnitte „Vor- und Nachteile wohnwirtschaftlicher Immobilien“ und „Konzeptionelle Gestaltung“). 11. Vermietung von Pkw-Stellplätzen – Besonderheiten Sollte der Käufer zusätzlich optional einen PKW-Stellplatz auf dem Areal erwerben wollen, so sind folgende Besonderheiten von ihm zu beachten: Da Wohnungsvermietungen grundsätzlich nicht der Umsatzsteuer unterliegen (§ 4 Nr. 12a UStG), ist die Vermietung eines Pkw-Stellplatzes als Nebenleistung, welcher unmittelbarer Bestandteil des Wohnungsmietvertrages ist, umsatzsteuerfrei. Sollte aber eine Vermietung des Pkw-Stellplatzes an Dritte (nicht Mieter einer Wohnung) erfolgen, so ist diese Vermietung steuerpflichtig (§ 4 Nr. 12 S. 2 UStG) und der Eigentümer hat diese Umsatzsteuer abzuführen. 12. Eintragung eines Freibetrages auf der Lohnsteuerkarte, Anpassung Einkommenssteuervorauszahlungen Für die Veranlagungszeiträume nach Anschaffung der Immobilie können die ausgleichsfähigen Verluste im Rahmen der Einkommensteuervorauszahlung (§ 37 EStG) oder in Form eines Freibetrages nach § 39 a Abs. 1 Nr. 5b EStG berücksichtigt werden. Die Änderung der Besteuerungsmerkmale erfolgt seit 2013 im Rahmen des elektronischen ELStAM-Verfahrens. Im Hinblick auf die Bearbeitungsdauer bei der Geltendmachung von steuerlichen Vorteilen kann es zu Verzögerungen kommen. Ein Käufer könnte dann sein Recht insofern nur selbst auf dem finanzgerichtlichen Weg einklagen. Im Moment ist eine Klage angesichts der Kosten und der langen Laufzeit allerdings nicht zwingend zu empfehlen, zumal auch die Verzinsung von Steuerguthaben unter bestimmten Voraussetzungen 6 % p.a. beträgt. Dies könnte unter Umständen dazu führen, dass der steuerlich positive Effekt erst im Nachgang eintritt. B. Eigengenutzte Immobilien Die Eigennutzung von Immobilien durch Privatleute ist in der Regel einkommensteuerrechtlich irrelevant. Es ist immer zu berücksichtigen, dass die Möglichkeiten des Sonderabzugs von Ausgaben dort ihre Grenzen haben, wenn das steuerpflichtige Einkommen nach deren Abzug unterhalb des Grundfreibetrags liegt. Ein Vor- und Rücktrag von Verlusten aus Sonderausgaben ist im Gegensatz zur Verlustverrechnung nicht möglich. Bezüglich der Ermäßigung 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65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66 Einkommensteuervorauszahlung und der Berücksichtigung eines Lohnsteuerfreibetrages gelten die Erläuterungen unter A.12 in entsprechender Anwendung. Der Erwerber hat die Möglichkeit, eine Steuerermäßigung für haushaltsnahe Dienst/Handwerkerleistungen nach § 35a Abs. 3 EStG in Anspruch zu nehmen (BFH, Urteil vom 13.07.2011 in BStBl. 2012 II S.232). In diesem Fall ermäßigt sich die Einkommensteuer des Eigentümers um 20 % der auf ihn entfallenden Aufwendungen, höchstens jedoch um EUR 1.200,00 pro Jahr und nur wenn die Bezahlung des Handwerkers per Überweisung erfolgt ist. Die Steuerermäßigung wird nicht gewährt, wenn es sich um öffentlich geförderte, zinsverbilligte Darlehen oder steuerfreie Zuschüsse handelt (vgl. Schreiben des BFM vom 10.01.2014 Az.: IV C - S 2296-b/07/0003: 004 und vom 15.02.2010 in BStBl. 2010 I Seite 140). Die anzusetzenden Werte für die Steuerermäßigung werden in der Wohngeldabrechnung der Hausverwaltung ausgewiesen. C. Grunderwerbsteuersatz und Grundsteuer Bei einem Immobilienerwerb in Magdeburg (Bundesland Sachsen-Anhalt) fällt nach zurzeit gültiger Rechtslage zum Zeitpunkt der Prospekterstellung (Mai 2025) eine Grunderwerbsteuer von 5,00 % des Kaufpreises nach notariellem Kaufvertragsabschluss an. Die Grunderwerbsteuer fällt im Fall der Veräußerung des Objekts an und ist vom Käufer aufgrund der üblichen vertraglichen Vereinbarungen zu zahlen, wobei die Verkäuferin neben dem Käufer für die Bezahlung gegenüber dem Finanzamt gesamtschuldnerisch haftet. Des Weiteren übernimmt der Käufer mit vertraglicher Vereinbarung (Besitzübergang) die Verpflichtung zur Zahlung der laufenden Grundsteuer, welche er aber im Vermietungsfall im Rahmen der jährlichen Nebenkostenabrechnung auf den Mieter umlegen kann. D. Schlussbemerkung Grundsätzlich muss sich der Käufer bewusst sein, dass sofern sich in der Zeit zwischen Erwerb und abschließender Prüfung durch das Finanzamt Änderungen in der Rechtsauffassung ergeben, dies nicht der Prospektherstellerin angelastet werden können, da Änderungen in der Rechtsauffassung meist auch rückwirkend Auswirkungen auf alle noch offenen Fälle entfalten. Die steuerlichen Konsequenzen aus dem Immobilienkauf sowie die in der Folgezeit auftretenden Unwägbarkeiten, sei es durch Anpassung der vertraglichen Rahmenbedingungen an veränderte Marktstrukturen oder die Weiterveräußerung bzw. Nutzungsänderungen der Immobilie bedingt, lassen sich heute nur unter Berücksichtigung der konkreten Rahmenbedingungen des jeweiligen Käufers abschätzen. Der vorliegende Text ersetzt nicht die Prüfung der wirtschaftlichen und steuerlichen Rahmenbedingungen durch eine fachkundige Person Ihres Vertrauens und die entsprechende steuerrechtliche Beratung und Prüfung der konkreten Vorteile und Nachteile für den Käufer. Die Prospektherausgeberin empfiehlt daher jedem Käufer,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66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67 grundsätzlich vor dem Abschluss des Kaufvertrages einen Steuerberater seines Vertrauens zu Rate zu ziehen. Haftungsausschlüsse Prospektteil B Der Prospekt ist erst dann als vollständig anzusehen, wenn der Investor neben dem vorliegenden Teil B auch den Prospektteil A sowie die in diesem Teil B erläuterten Vertragswerke (Kaufvertragsentwurf, Verweisurkunde mit Teilungserklärung nebst Anlagen sowie Baubeschreibung) zur Kenntnisnahme ausgehändigt bekommen hat. Gegenstand des Verkaufsprospektes ist die Darstellung der kompletten Neuerrichtung von {{ANZAHL_WE}} Eigentumswohnungen auf dem Areal der ehemaligen {{PROJEKT_AREAL}} in {{PROJEKT_PLZ_STADT}}. Alle Wohnungen im Erdgeschoss auf der Ostseite verfügen über Terrassen mit dazugehörigen Gartenanteilen. Die Wohnungen im Erdgeschoss auf der Westseite und in den Obergeschossen verfügen über Balkone. Optional besteht die Möglichkeit, Außenstellplätze auf dem Areal zu erwerben. Diese vorgenannten Eigentumswohnungen werden im Zug der umfassenden Baubeschreibung für den Neubau entsprechend der Baubeschreibung vom 30.06.2025 gemäß den modernen Standards errichtet. Alle im Prospekt dargelegten Zahlen, Daten und Fakten entsprechen nach bestem Wissen dem Kenntnisstand zum Zeitpunkt der Prospektierung und geben, aus Sicht der Prospektherausgeberin und Verkäuferin, alle, für die Anlageentscheidung wesentlichen Umstände vollständig und richtig wieder. Soweit wie möglich, wurden alle zum Zeitpunkt der Prospektierung bekannten bzw. erkennbaren Sachverhalte und Entwicklungen bei der Prospekterstellung berücksichtigt. Aufgrund des Erstellungs- und Ausgabezeitpunkts des Prospektes kann jedoch nicht ausgeschlossen werden, dass die im Prospekt genannten Zahlen, Daten und Fakten im Zeitverlauf noch Anpassungen unterliegen. Ebenfalls ist nicht auszuschließen, dass trotz umfassender und gewissenhafter Prüfung Irrtümer aufgetreten sind oder sich Schreibfehler eingeschlichen haben. Insbesondere können sich bei den Quadratmeter-Angaben aufgrund von Anpassungen in der Werkplanung und Baudurchführung noch Abweichungen ergeben. Auch im Hinblick auf Finanzierungsthemen, Fragen zur Nutzung als Kapitalanlage oder der wirtschaftlichen Konsequenzen eines Immobilieninvestments erfolgt keine Beratung, sondern der Investor ist gehalten, sich entsprechenden Rat fachkundiger dritter Personen seines Vertrauens einzuholen. Weiterhin übernehmen weder die Verkäuferin/Prospektherausgeberin, noch ein an der Erstellung dieses Prospektes beteiligter Dritter eine Haftung für die zukünftige Entwicklung der unterstellten Kostenund Ertragsstruktur. Gleiches gilt für eine eventuell beabsichtigte Geltendmachung steuerlicher Vorteile. Alle diese Faktoren sind – neben der nicht kalkulierbaren regionalen und globalen Entwicklung der Immobilienmärkte – sowohl individuellem (personen- oder objektbezogene Sachverhalte) als auch generellem Wandel</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67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68 unterworfen, etwa in Form von Änderungen der Gesetzgebung, der Rechtsprechung als auch der verwaltungs- und steuerrechtlichen Praxis. Für den Inhalt des Prospektes ist daher immer nur die zum Zeitpunkt der Erstellung geltende und bekannte Sach- und Rechtslage maßgebend. Vertragsmuster Teile der zum Zeitpunkt der Prospektlegung beschriebenen Vertragsmuster können noch vorläufig sein. Dem Investor wird daher bei weitergehendem Interesse eine Zusammenstellung der aktuellen Vertragsmuster zur Verfügung gestellt. Maßgeblich für die Rechtsbeziehung zum jeweiligen Vertragspartner sind dann letztlich allein die beurkundete Vertragsfassung bzw. die unterschriebenen Verträge. Deswegen ist es wichtig, dass der Investor die vom Notar vorbereiteten individualisierten Vertragsentwürfe und Erklärungen sorgfältig liest – da diese gegenüber dem Prospekt noch tatsächliche und rechtliche Änderungen enthalten können – und gegebenenfalls erneut Rücksprache mit seinen Beratern hält. Prospektverantwortung Weder in ihrer Funktion als Verkäuferin, noch in ihrer Funktion als Prospektherausgeberin, erbringt sie durch die Erstellung dieses Prospektes eine Rechtsoder Steuerberatung, da dies gesetzlich ausschließlich den entsprechenden Berufsträgern vorbehalten ist. Die ausschließliche Verantwortung für die Richtigkeit und Vollständigkeit der im Prospekt und den weiteren Vertragsunterlagen dargelegten Tatsachen übernehmen – unter den Einschränkungen dieser Haftungsausschlüsse – die Verkäuferin/Prospektherausgeberin. Diese hat deswegen auch als einzige die Möglichkeit, verbindliche Aussagen zum Prospektinhalt abzugeben. Das gleiche gilt für vom Prospekt abweichende Angaben. Werden durch die Verkäuferin und Prospektherausgeberin externe Vertriebspartner mit dem Verkauf der Liegenschaft beauftragt, haften weder die Vertriebspartner, noch deren Geschäftsführer, Mitarbeiter oder weitere Beauftragte und deren Mitarbeiter für unklare, unrichtige oder unvollständige Prospektangaben und die eventuell daraus resultierende Verletzung von Aufklärungs- und Hinweispflichten der Prospektherausgeberin/Verkäuferin. Die mit dem Vertrieb beauftragten Gesellschaften und Personen sind ihrerseits nicht berechtigt, verbindliche Zusagen oder Nebenabreden, die vom Inhalt dieses Prospektes abweichen oder über diese hinausgehen, zu treffen. Sie sind weder zur rechtsgeschäftlichen Vertretung der Verkäuferin/Prospektherausgeberin ermächtigt, noch dürfen sie Zahlungen oder Leistungen für diesen entgegennehmen. Die beauftragten Vertriebsgesellschaften sind insbesondere keine Erfüllungsgehilfen der Verkäuferin/Prospektherausgeberin, welcher insoweit auch keine Haftung für solche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68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69 unberechtigten Erklärungen und Handlungen übernimmt. Es sind einzig und allein die Erklärungen der Verkäuferin/Prospektherausgeberin maßgebend. Verjährung Ersatzansprüche wegen fehlerhafter oder unvollständiger Prospektangaben gegen die Verkäuferin/Prospektherausgeberin verjähren, soweit sie nicht auf vorsätzlicher oder grob fahrlässiger Pflichtverletzung beruhen, ein Jahr nach Kenntniserlangung eines solchen Fehlers, spätestens jedoch drei Jahre nach Herausgabe des Prospektes. Rechte Die Verkäuferin/Prospektherausgeberin weist ausdrücklich darauf hin, dass sämtliche Texte als auch Fotos und sonstige Darstellungen in der vorliegenden Form urheberrechtlich geschützt sind. Eine weitere Verwendung in jedweder Form durch unautorisierte Dritte wird ausdrücklich untersagt. Der vollständige Prospekt wurde im {{PROSPEKT_DATUM}} fertiggestellt und anschließend an die mit dem Vertrieb beauftragten Gesellschaften herausgegeben.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69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70 Wohnungskauf- und Werkvertrag UVZ-NR. / 2025 V e r h a n d e l t zu ……………………………, am ………………… Vor mir, dem unterzeichnenden N O T A R ………………………………………… mit Amtssitz in .......................................................... erschienen: 1. Herr/Frau ………………… wh. in ……………………………….. hier nicht in eigenem Namen handelnd, sondern als mündlich bevollmächtigter Vertreter, Vollmachtsbestätigung in notarieller Form nachzureichen versprechend, für die Firma {{ENTWICKLER_NAME}} mit Geschäftsanschrift in {{ENTWICKLER_ADRESSE_INVERS}} (eingetragen beim {{ENTWICKLER_HANDELSREGISTER}}) - nachstehend „Verkäufer“ oder „Veräußerer“ genannt 2. Herr ***, geb. am *** wh. in *** 3. dessen Ehefrau ***, geb. am *** wh. daselbst - nachstehend Käufer oder Erwerber genannt -</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70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71 Die Erschienenen wiesen sich durch Vorlage ihrer gültigen Bundespersonalausweise mit Lichtbild aus. Der unterzeichnende Notar wies die Beteiligten darauf hin, dass bei der Beurkundung eines Verbrauchervertrages zwischen dem Zugang des Kaufvertragsentwurfes sowie der Teilungserklärung einerseits und der Beurkundung andererseits grundsätzlich ein Zeitraum von zwei Wochen liegen soll, um dem Käufer eine entsprechende Überlegungs- und Überprüfungsfrist zu gewähren. Der beabsichtigte Text des heutigen Rechtsgeschäftes sowie die Teilungserklärung wurde den Vertragsparteien durch den amtierenden Notar am ............................................................... übersandt. Auf Befragen des amtierenden Notars wird seitens des Käufers erklärt, dass ausreichend Gelegenheit bestand, sich vorab mit dem Gegenstand der heutigen Beurkundung auseinander zu setzen; der Entwurf der vorstehenden Urkunde sowie der Teilungserklärung ist dem Käufer durch den amtierenden Notar am … ..................................... zugegangen. Der amtierende Notar hat am …………………… 2025 das in § 1 bezeichnete Wohnungsgrundbuch in elektronischer Form einsehen lassen und dessen Inhalt mit den Beteiligten erörtert. Die Beteiligten ersuchen den Notar um die Beurkundung folgenden Bauträgervertrages über eine noch zu errichtende Eigentumswohnung: Aufschiebende Bedingungen 1. Der Vertretenen ist es aufgrund der räumlichen Entfernung zum Beurkundungsort und aufgrund terminlicher Verhinderung nicht möglich, selbst am Beurkundungstermin teilzunehmen. Mit der hier gewählten Vorgehensweise der Vertretung aufgrund mündlich erteilter Vollmacht ist der Vertretene nach Angaben des für ihn Erschienenen ausdrücklich einverstanden. Der schuldrechtliche Vertrag steht daher unter der aufschiebenden Bedingung des Vorliegens der Vollmachtsbestätigung in notarieller Form durch den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71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72 Verkäufer bei dem amtierenden Urkundsnotar, die mit Eingang bei diesem allen Beteiligten als zugegangen gelten soll. 2. Die in diesem Vertrag vorgesehenen Verpflichtungen zur Leistungserbringung des Verkäufers dienen der Umsetzung eines Neubauvorhabens, für das der Käufer eine Förderung über das Programm „Klimafreundlicher Neubau“ (KFN) des Bundesministeriums für Wohnen, Stadtentwicklung und Bauwesen (BMWSB) bei der KfW ***beantragt hat. ALTERNATIV***???***innerhalb von …………… Tagen nach Vertragsschluss beantragen wird. Dieser Kaufvertrag tritt hinsichtlich der Umsetzung erst und nur insoweit in Kraft, wenn und soweit die KfW den Antrag zur Förderung eines Neubauvorhabens bewilligt und die Förderung mit einer Zusage gegenüber der antragstellenden Vertragspartei zugesagt hat (aufschiebende Bedingung). Der schuldrechtliche Teil dieses Vertrages steht daher unter der weiteren aufschiebenden Bedingung, dass die KfW den entsprechenden Antrag bewilligt und die Förderung gegenüber der antragstellenden Vertragspartei (Käufer) zugesagt hat. Die antragstellende Vertragspartei (Käufer) wird die jeweils andere Vertragspartei (Verkäufer) sowie den in § 16 genannten AbwicklungsNotar {{NOTAR_NAME}} in {{NOTAR_ADRESSE}} über den Eintritt der vorgenannten aufschiebenden Bedingung gem. Ziff. 2. unverzüglich in Kenntnis setzen. Alternativ hierzu reicht die Vorlage des von der BMWSB oder der KfW ausgestellten Darlehnsvertrages zugunsten des Käufers aus. 3. Sollten die aufschiebenden Bedingungen bzgl. der Ziff. 1 nicht innerhalb von 4 Wochen u n d hinsichtlich der Ziff. 2. nicht innerhalb von 10 Wochen nach der heutigen Beurkundung des Vertrages eingetreten sein, gilt der Vertrag als unwirksam. Der Nachweis des Eintrittes der aufschiebenden Bedingungen sind gegenüber dem Grundbuchamt nicht zu erbringen. Die Vertragsbeteiligten haben ein Interesse, den Vollzug dieses Kaufvertrages alsbald zu erreichen und weisen den amtierenden Notar sowie den in § 16 genannten AbwicklungsNotar {{NOTAR_NAME}} in {{NOTAR_STADT}} hiermit an, den Kaufvertrag nach Vorliegen der Vollmachtsbestätigung in notarieller Form durch den Verkäufer bei dem amtierenden Notar sofort vertragsgemäß zu vollziehen, insbesondere die für die Fälligstellung des Kaufpreises erforderlichen Schritte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72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73 vorzunehmen. Die vorgenannten Notare sollen daher den Eintritt der aufschiebenden Bedingung nicht abwarten. Die damit verbundenen Kostenfolgen und Rückabwicklungserfordernisse beim Ausfall der Bedingungen sind den Vertragsbeteiligten bewusst. § 1 Grundbuchstand Sachstand 1. Im Wohnungsgrundbuch von Magdeburg Blatt *** des Amtsgerichtes Magdeburg ist der Verkäufer als Eigentümer des folgenden Raumeigentumsrechts eingetragen: ***/100.000stel Miteigentumsanteile an dem Grundstück der Gemarkung Magdeburg, Flur 273, Flurstücke 12306, 12308, 12309, 12312, 12313, 12334, 12476, 12493, 12494, 12496 und 12497 zur Größe von 2.626 qm, 39 qm, 3.288 qm, 460 qm, 856 qm, 257 qm, 2.356 qm, 53 qm, 23 qm, 3 qm und 351 qm verbunden mit dem Sondereigentum an den im Aufteilungsplan mit Nr. *** bezeichneten Wohnräumen im Neubaugebäude des ***geschosses, gelegen in Magdeburg, Alte {{PROJEKT_AREAL}}. Im Bestandsverzeichnis ist zugunsten der Flurstücke 12306, 12308, 12312, 12313 und 12334 ein Herrschvermerk für eine Grunddienstbarkeit (Geh- und Fahrtrecht) eingetragen. 2. Das Kaufobjekt ist derzeit wie folgt belastet: Abtl. II : lfd. Nr. 1: Grunddienstbarkeit (Geh- und Fahrtrecht) lfd. Nr. 2: Grunddienstbarkeit (Wegerecht) lfd. Nr. 3: Beschränkte persönliche Dienstbarkeit (Strom-, Gas- und Trinkwasserversorgungsleitungsrecht) für die Städtische Werke Magdeburg GmbH &amp; Co. KG, Magdeburg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73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74 Darüber hinaus beabsichtigt der Verkäufer für einen Betreiber der auf den Gebäudeteilen noch zu errichtenden Photovoltaikanlagen eine Dienstbarkeit für deren Betrieb sowie eine Vormerkung zur Absicherung eines künftigen Betreibers der Photovoltaikanlage zu bestellen. Diese künftig noch einzutragenden Rechte werden vom Käufer geduldet und übernommen. Abt. III : lfd. Nr. 1: Buchgrundschuld in Höhe von 2.000.000,00 EUR für die Volksbank eG Braunschweig Wolfsburg in Wolfsburg lfd. Nr. 2: Buchgrundschuld in Höhe von 1.100.000,00 EUR für die Volksbank eG Braunschweig Wolfsburg in Wolfsburg lfd. Nr. 3: Buchgrundschuld in Höhe von 31.900.000,00 EUR für die Volksbank eG Braunschweig Wolfsburg in Wolfsburg lfd. Nr. 4: Buchgrundschuld in Höhe von 2.400.000,00 EUR für die Volksbank eG Braunschweig Wolfsburg in Wolfsburg Alle Grundpfandrechte sind spätestens mit Eigentumsumschreibung auf den Käufer auf Kosten des Verkäufers zur Löschung zu bringen. 3. Die Wohnfläche der vorgenannten Wohneinheit wird vom Verkäufer mit *** qm angegeben. § 2 Teilungserklärung Gliederung der Baukörper (Projektteile) 1. Bezüglich des in § 1 genannten Grundstücks hat der Eigentümer mit Urkunde vom 19. Dezember 2023 (UVZ-Nr. 2175/2023 des Notars {{NOTAR_NAME}} in Magdeburg) eine Teilungserklärung gem. § 8 WEG nebst Gemeinschaftsordnung sowie eine Ergänzung bzgl. des Neubauteiles vom 4. {{STAND_STEUER}} (UVZ-Nr. 1144/2025 des Notars {{NOTAR_NAME}}) (jeweils nachstehend Verweisurkunde genannt, auch wenn es sich um mehrere handelt) beurkunden lassen. Diese Urkunden sind Grundlage für die Bildung der einzelnen Wohnungsgrundbuchblätter. Der in der Urkunde vom 4. {{STAND_STEUER}} enthaltene Aufteilungsplan für den Neubauteil ist mit der Abgeschlossenheitsbescheinigung versehen und trägt Stempel und Unterschrift des Bauordnungsamtes Magdeburg (AZ.: 67/25/0924 vom 18. Juni 2025).</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74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75 Die Parteien stellen klar, dass ausschließlich die Urkunde vom 4. {{STAND_STEUER}} bzgl. der geänderten neuen Miteigentumsanteile und Wohnflächen und der dort beurkundeten Bau- und Leistungsbeschreibung für das hier veräußerte Neubauprojekt maßgeblich sind. 2. Die gesamte Wohnungseigentumsanlage besteht aus mehreren Baukörpern, die vom Verkäufer in der Verweisurkunde in folgende Projektteile gegliedert wurde: a) das zu errichtende Neubaugebäude (im Aufteilungsplan mit „Neubau“ bezeichnet, mit den Wohnungen Nr. 1 - 104), b) das zu sanierende Altbaugebäude (im Aufteilungsplan mit „Bauteil A“ und „Bauteil B“ bezeichnet, mit den Wohnungen Nr. 1 - 46) einschließlich der PKW-Garagen im Außenbereich, c) das sich unter den Altgebäuden befindliche Tonnengewölbe (im Aufteilungsplan mit „Gewölbekeller“ bezeichnet). Die jeweiligen Projektteile a) bis c) sollen -obgleich ausschließlich eine Wohnungseigentümergemeinschaft gebildet ist- wirtschaftlich -soweit möglich und rechtlich zulässig- getrennt, unabhängig und selbständig voneinander behandelt werden. Die Projektteile werden vom Verkäufer in zwei Bauabschnitten dahingehend errichtet, dass der Neubau und der Altbau mit den Bauteilen A und B als zunächst zu errichtender bzw. zu sanierender 1. Bauabschnitt gelten und der Projektteil c) den 2. Bauabschnitt ausmacht. Einzelheiten ergeben sich aus der vorgenannten Verweisurkunde. 3. In der Verweisurkunde vom 19. Dezember 2023 ist die Bau- und Leistungsbeschreibung für die beabsichtigte Sanierung der Projektteile b) und in der Verweisurkunde vom 4. {{STAND_STEUER}} die Bau- und Leistungsbeschreibung für die Neuerrichtung des Projektteiles a) enthalten. 4. Der Käufer erklärt, dass ihm die Verweisurkunde bekannt ist. Er hat sie vor diesem Beurkundungstermin in beglaubigter Abschrift ausgehändigt bekommen. Sie liegt bei der heutigen Beurkundung in beglaubigter Abschrift vor. Die Vertragsparteien verzichten auf ein Verlesen der Verweisurkunde und ein Beifügen als Anlage zu dieser Urkunde. Der wesentliche Inhalt der Verweisurkunde (einschließlich der darin enthaltenen Bau- und Leistungsbeschreibung) und deren Pläne und Zeichnungen wurden jedoch vom unterzeichnenden Notar mit den Vertragsparteien besprochen. Der Käufer genehmigt diese und erkennt damit die Bedingungen der Teilungserklärung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75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76 einschließlich der Baubeschreibung (Anlage zur Verweisurkunde) als für ihn verbindlich an. 5. Für die weitere Beurkundung nehmen die Vertragsparteien auf die Verweisurkunde Bezug und machen sie zum Inhalt ihrer heutigen Erklärungen. Soweit die Anlagen der Verweisurkunde Abweichungen zu den dem Käufer vorab ausgehändigten sonstigen Unterlagen enthalten, gelten ausschließlich die Anlagen der Verweisurkunde. § 3 Bauverpflichtung 1. Der Verkäufer wird den vorstehend näher beschriebenen Grundbesitz und die Projektteile a) und b) nach Maßgabe der jeweiligen Baubeschreibungen gem. Verweisurkunde und der dazugehörigen Pläne sanieren bzw. neu errichten (vgl. § 2 dieser Urkunde). 2. Kaufgegenstand gem. der heutigen Urkunde ist ausschließlich die in § 4 genannte Wohneinheit im Projektteil a) – Neubaugebäude ???***nebst dazugehörigem Sondernutzungsrecht*** sowie die diesbezüglichen notwendigen Wege- und Fahrflächen, die sich aus der Verweisurkunde ergeben. Insofern wird klargestellt, dass sich die Herstellungsverpflichtung auf Gebäude und Anlagen des Projektteiles a), also den Neubau beschränkt; dieser ist in der Verweisurkunde im Einzelnen dargestellt. Die Herstellungsverpflichtung des Verkäufers gem. der heutigen Kaufvertragsurkunde erstreckt sich ausdrücklich nicht auf Teile der Wohnanlage außerhalb des Projektteiles a). Ob, wann und wie die weiteren Projektteile und dazugehörigen Anlagen errichtet werden, entscheidet allein der Verkäufer. Der Verkäufer schuldet dem Käufer die Herstellung in dem vorstehend bezeichneten Umfang so, dass sich die vertragsgegenständliche Wohnung für die gewöhnliche Verwendung zu Wohnzwecken eignet und eine Beschaffenheit aufweist, die bei Werken gleicher Art erwartet werden kann. ***Entsprechendes gilt für das verkaufte Sondernutzungsrecht. Umfang und Inhalt der Herstellungsverpflichtung werden -beschränkt auf den Projektteil a)- durch die Bau- und Leistungsbeschreibung der Verweisurkunde vom 4. {{STAND_STEUER}} und die Baupläne bestimmt, die der Verweisurkunde beigefügt sind.</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76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77 3. Der Verkäufer verpflichtet sich, das Bauwerk gemäß der Bau- und Leistungsbeschreibung lt. Verweisurkunde vom 4. {{STAND_STEUER}} schlüssel- und bezugsfertig herzustellen und auszustatten, nur normgerechte Baustoffe zu verwenden und das Bauvorhaben nach dem Stand der Technik zum Zeitpunkt der Beurkundung der Teilungserklärung am 4. {{STAND_STEUER}} und technisch einwandfrei zu errichten. Die Vertragsparteien sind sich also darüber einig, dass insofern nicht die nach den allgemeinen Rechtsgrundsätzen zum Zeitpunkt der Abnahme maßgeblichen Regeln der Technik gelten sollen. 4. Zwischen den Beteiligten wird klargestellt, dass die Baubeschreibung keine Garantieerklärung, sondern nur eine Vereinbarung über die Beschaffenheit des vom Verkäufer neu zu errichtenden Bauwerkes darstellt. 5. Die Baubeschreibung hat Vorrang vor den Plänen. Soweit durch bestimmte Bereiche des Vertragsobjektes gemeinschaftliche Heizungs-, Wasser- und Abwasserleitungen o.ä. führen bzw. Absperrventile für Steigestränge angebracht sind, hat der Käufer diese zu dulden. 6. Änderungen in der Planung und Ausführungsart, den vorgesehenen Baustoffen und Einrichtungsgegenständen sind zulässig, wenn sie • nach Vertragsabschluss aufgrund behördlicher Auflagen oder aus technischen Gründen notwendig werden oder • nur das Sondereigentum und Sondernutzungsrechte Dritter oder das für den Vertragsgegenstand unerhebliche Gemeinschaftseigentum betreffen oder • das für den vertragsgemäßen Gebrauch des Vertragsgegenstands erhebliche Gemeinschaftseigentum lediglich unwesentlich ändern. Sämtliche Änderungen dürfen Güte, Wert und Gebrauchsfähigkeit des Vertragsgegenstands nicht mindern, müssen dem Erwerber zumutbar sein und sind ihm unverzüglich mitzuteilen. Der Festpreis ändert sich dadurch nicht. 7. Soweit die Baubeschreibung oder der Kaufvertrag keine oder nur unbestimmte Angaben hinsichtlich der Bauausführung enthalten, werden die Bauleistungen in einer den sonstigen Leistungen und dem Baustandard des Bauwerks entsprechenden Qualität ausgeführt. Der Verkäufer ist insofern zur Leistungsbestimmung gem. § 315 BGB nach billigem Ermessen berechtigt.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77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78 8. Bis zur Übergabe des Vertragsbesitzes steht dem Verkäufer das alleinige Hausrecht auf der Baustelle zu. Der Käufer darf Bauarbeiten weder anordnen noch aufhalten; zu Weisungen auf der Baustelle ist er nicht befugt. Der Käufer wurde darauf hingewiesen, dass das Betreten der Baustelle bis zur Übergabe des Vertragsobjektes auf eigene Gefahr geschieht und nur nach vorheriger Anmeldung und Genehmigung durch den Verkäufer erfolgen darf. 9. Die am Bau beteiligten Unternehmen werden dem Käufer im Rahmen der Besitzübergabe des Kaufgegenstandes bekannt gegeben. 10. Maße für Einrichtungsgegenstände sind grundsätzlich am Bauwerk zu nehmen. 11. Derzeitig ist von Seiten des Verkäufers geplant, die vertragsgegenständliche Wohnung bis zum 30. Juni 2027 fertig zu stellen. Der Verkäufer verpflichtet sich, die mit dieser Urkunde erworbene Wohnung bis spätestens 31. Dezember 2027 bezugsfertig und nebst Gemeinschaftseigentum bzgl. des Projektteiles a) bis spätestens 31. Dezember 2027 vollständig fertig zu stellen. Für den Fall, dass der Verkäufer die Wohnung nicht bis spätestens zu vorgenanntem Termin bezugsfertig hergestellt hat, ist er zur Zahlung einer Nutzungsausfallentschädigung von ............................ EUR für jede angefangene Kalenderwoche verpflichtet. Bei Fristüberschreitung aus Gründen, die der Verkäufer nicht schuldhaft zu vertreten hat (wie z.B. Schlechtwettertage, höhere Gewalt, Vollzugshemmung der Baugenehmigung oder die Realisierung von Sonderwünschen des Käufers), verlängert sich die Bezugsfertigkeit und vollständige Fertigstellung um den entsprechenden Zeitraum der Fristüberschreitung, es sei denn, die Überschreitung ist dem Käufer unter Berücksichtigung der gesamten Umstände nicht mehr zumutbar. 12. Der Verkäufer gewährt dem Käufer eine Garantie für den Fall der Nichtvermietung der Wohnung für die Dauer von drei Monaten ab dem Zeitpunkt der garantierten Fertigstellung. Die Mietgarantie wird nach Ablauf dieses Zeitraums, spätestens zum 15.04.2028, in Höhe der Kaltmiete von 20,-€/m² pro Monat für jeden Monat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78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79 gezahlt, in dem die Wohnung im Zeitraum vom 01.01.2028 bis 31.03.2028 nicht vermietet war. 13. Die Wohneinheit ist bezugsfertig, wenn die Bauarbeiten im Wesentlichen abgeschlossen sowie ein gefahrloser Zugang und die Bewohnbarkeit gesichert sind. Mängelbeseitigungen, Restarbeiten am Altbaugebäude sowie die Erstellung der Außenanlagen im Projektteil a) sind nach Bezugsfertigstellung möglich. 14. Die vollständige Fertigstellung des Vertragsobjektes ist gegeben, wenn die vertraglich geschuldeten Leistungen vom Verkäufer erbracht sind. Die Außenanlagen, Zugangswege, Anpflanzungen im Projektteil a) müssen -so- weit in der Baubeschreibung festgelegt- erstellt und ausstehende Restarbeiten durchgeführt sein. Etwa vorliegende und noch zu beseitigende Mängel hindern die vollständige Fertigstellung nicht. Die Beseitigung der bei Abnahme im Übergabeprotokoll aufgeführten Mängel ist somit nicht Voraussetzung einer vollständigen Fertigstellung. In diesen Fällen steht dem Käufer jedoch ein Zurückbehaltungsrecht in Höhe des zweifachen Betrages des mängelbedingten Minderwertes der jeweiligen Leistung bzw. des mutmaßlichen Beseitigungsaufwandes zu (§ 641 Abs. 3 BGB n.F.). § 4 Kaufobjekt / Verkauf 1. Der Verkäufer verkauft hiermit mit allen Rechten, Pflichten, gesetzlichen Bestandteilen und Zubehör sowie einschließlich der nach § 3 dieser Urkunde noch zu erbringenden Bauleistungen lastenfrei in Abtl. III des Grundbuches an den dies annehmenden Käufer ***- mehrere zu gleichen Bruchteilen • das in § 1 genannte Vertragsobjekt; • ***nur für Erdgeschoss-WE 10 - 21: das Sondernutzungsrecht an der Grundstücksfläche gem. Plan S 1 der Sondernutzungsrechte gem. Verweisurkunde. Dieses Sondernutzungsrecht wird hiermit gemäß der Gemeinschaftsordnung dem vorstehenden Wohnungseigentum zugeordnet. Die entsprechende Grundbucheintragung wird -sofern noch nicht grundbuchlich vollzogen- hiermit bewilligt und beantragt. 2. ***Des Weiteren verkauft der Käufer dem Verkäufer das Mobiliar gem. der Aufstellung in der Anlage zu dieser Urkunde.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79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80 § 4 a Zuweisung von Sondernutzungsrechten Der Veräußerer bestimmt gemäß § 2 der Verweisurkunde den jeweiligen Eigentümer des heute veräußerten Wohnungseigentumsrechts zum ausschließlichen Nutzungsberechtigen an dem in der Anlage zur Teilungserklärung mit ???SP *** näher bezeichneten oberirdischen Kfz-Stellplatz und beantragt die entsprechende Grundbucheintragung. § 5 Kaufpreis 1. Der Kaufpreis beträgt *** EUR (i.W. *** EURO). Hiervon entfallen a) auf Grund und Boden *** EUR b) auf die Herstellungskosten *** EUR c) auf den PKW-Stellplatz *** EUR d) auf das Mobiliar gem. Anlage *** EUR. Diese Aufteilung entspricht den derzeitigen Planungen des Verkäufers. Für die Kaufpreisaufteilung übernimmt der Verkäufer jedoch keine Haftung, insbesondere nicht dafür, dass die Finanzbehörden sich dieser Aufteilung anschließen werden. Die Aufteilung ist somit nicht Vertragsgrundlage. 2. Im Kaufpreis, der grundsätzlich ein Festpreis ist, sind enthalten: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80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81 • alle Errichtungskosten sowie die Baunebenkosten (Architektenhonorar, Statikerkosten, Genehmigungen etc.); • die Kosten für die Herstellung der Außenanlagen laut Baubeschreibung; • alle Kosten der Anschlüsse des Vertragsobjekts an Ver- und Entsorgungsanlagen einschließlich der Anschlussgebühren, Herstellungsbeiträge und sonstigen Kommunalabgaben für die funktionsgerechte äußere Erschließung des Vertragsobjekts sowie die Kosten der inneren Erschließung. Art und Umfang der Leistungen des Verkäufers ergeben sich aus der Baubeschreibung und ggf. der Baugenehmigung für das Bauvorhaben. Der Verkäufer trägt ferner alle Erschließungsbeiträge im Sinne des Baugesetzbuches, Beiträge im Sinne des Kommunalabgabengesetzes sowie etwaiger städtischer Satzungen für Anlagen, die bereits errichtet sind oder bis zur Bezugsfertigkeit hergestellt sind oder für die die Gemeinde bis zur endgültigen Fertigstellung Voraus- oder Sicherungsleistungen verlangt hat oder über die ein Erschließungsvertrag mit der Gemeinde geschlossen wurde. Etwaige Rückerstattungen von Vorausleistungen stehen dem Verkäufer zu. 3. Die Wohn- und Nutzfläche gem. Verweisurkunde vom 4. {{STAND_STEUER}} wurde auf der Grundlage der Wohnflächenverordnung ermittelt. Hierbei handelt es sich weder um eine Garantie noch eine Beschaffenheitsvereinbarung. Balkone und Terrassen wurden aufgrund der erhöhten Wohnqualität und Werthaltigkeit mit der Hälfte ihrer Fläche berücksichtigt. Abweichungen von den sich aus den Plänen ergebenen Flächengrößen sind nur auszugleichen, soweit sie 3% übersteigen, jedoch dann nicht, wenn ein Mindermaß durch Sonderwünsche des Käufers veranlasst ist. Eine Erhöhung des Kaufpreises aufgrund Flächenmehrung ist jedoch begrenzt auf 5% des vereinbarten Kaufpreises. § 6 Zahlung des Kaufpreises 1. Der Kaufpreis für die Vertragsgegenstände zu § 5 Ziff. 1 a) bis ***c) ist zahlbar in bis zu sieben Abschlagsraten, welche gemäß § 3 Abs. 2 Makler- und BauträgerVerordnung (MaBV) beliebig nach den Prozentsätzen der nachfolgenden 13 Bauabschnitte des Projektteiles a) als geschuldetem Bauvorhaben vom Verkäufer zusammengesetzt werden können: (1) 30,0% nach Vorliegen der nachstehend in Ziff. 4. genannten und vom Abwicklungsnotar zu bestätigenden Grundvoraussetzungen (2) 28,0% nach Herstellung der Rohbaufertigstellung, einschließlich Zimmererarbeiten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81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82 (3) 5,6% nach Herstellung der Dachflächen und Dachrinnen (4) 2,1% nach Rohinstallation der Heizungsanlage (5) 2,1 % nach Rohinstallation der Sanitäranlagen (6) 2,1 % nach Rohinstallation der Elektroanlagen (7) 7,0% nach Einbau der Fenster einschließlich Verglasung (8) 4,2% nach Ausführung der Innenputzarbeiten, ausgenommen Beiputzarbeiten (9) 2,1 % nach Einbringung des Estrichs (10) 2,8% nach Erledigung der Fliesenarbeiten im Sanitärbereich (11) 8,4% nach Bezugsfertigkeit und Zug um Zug gegen Besitzübergabe (12) 2,1 % nach Erledigung der Fassadenarbeiten (13) 3,5% nach vollständiger Fertigstellung des Vertragsgegenstandes (z. B. Restarbeiten im Treppenhaus, Außenanlagen usw.). Sofern einzelne Leistungen nicht anfallen, weil sie mit der unverändert bestehenbleibenden Altbausubstanz erbracht werden, wird der jeweilige Vomhundertsatz anteilig auf die übrigen Raten verteilt. Zur Sicherheitsleistung nach § 650m Abs. 2 BGB vereinbaren die Vertragsparteien Folgendes: Der Erwerber ist berechtigt, von der ersten Abschlagszahlung einen Betrag in Höhe von 5% des Kaufpreises als Sicherheit für die rechtzeitige Herstellung des Bauwerkes ohne wesentliche Mängel einzubehalten. Dieser Einbehalt ist zur Zahlung fällig, wenn des Vertragsobjekt rechtzeitig und ohne wesentliche Mängel fertig gestellt ist. Ist dies nicht der Fall, bestimmt sich die Fälligkeit nach den gesetzlichen Bestimmungen. Liegen nur unwesentliche Mängel vor, ändert dies nichts an der Fälligkeit dieses Einbehaltes, unbeschadet etwa in diesem Fall bestehender gesetzlicher Zurückbehaltungsrechte. Klargestellt wird nochmals ausdrücklich, dass Bauleistungen hinsichtlich des Projektteils b) und c) nicht Gegenstand der Herstellungsverpflichtung des Verkäufers gem. der heutigen Kaufvertragsurkunde sind; deren Durchführung ist demnach vereinbarungsgemäß nicht Voraussetzung für die geschuldeten Kaufpreiszahlungen. 2. Für die Fälligkeit der ersten Rate ist abzustellen auf das Gesamtobjekt des Projektteiles a). Für die Fälligkeit der 2. bis 6. Rate ist abzustellen auf das jeweilige Sondereigentum und die zu dessen Funktion erforderlichen Teile des Gemeinschaftseigentums am Projektteil a). Für die Fälligkeit der 7. und letzten Rate ist zusätzlich abzustellen auf das Gemeinschaftseigentum im Projektteil a). 3. Die einzelnen Abschlagsraten sind nach vollständiger Erledigung aller Arbeiten des genannten Projektteiles a) mit Zugang der Zahlungsaufforderung des Veräußerers beim Erwerber unter Vorlage einer schriftlichen Bestätigung des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82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83 bauleitenden Architekten über den entsprechenden Bautenstand innerhalb von 10 Bankarbeitstagen zur Zahlung fällig und bis dahin nicht zu verzinsen. 4. Zur Sicherheit des Käufers wird vereinbart, dass die Zahlung gem. vorgenannten Regelungen erst nach schriftlicher Bestätigung des Abwicklungsnotars gegenüber den Vertragsparteien erfolgt, nach der a) alle zur Rechtswirksamkeit und zum Vollzug dieses Kaufvertrages erforderlichen Genehmigungen vorliegen und keine Gründe ersichtlich sind, die gegen die Wirksamkeit dieser Urkunde sprechen, b) die Eintragung der für den Käufer bewilligten Eigentumsverschaffungsvormerkung im Wohnungsgrundbuch im Rang nach den in § 1 genannten Rechten erfolgt ist, wobei unter Mitwirkung des Käufers bestellte Grundstücksbelastungen im Rang vorgehen dürfen, c) die Lastenfreistellung durch Vorliegen der Freistellungsverpflichtung des Gläubigers gesichert ist, wonach nicht zu übernehmende Grundpfandrechte gelöscht werden, und zwar, wenn das Bauvorhaben vollendet wird, unverzüglich nach Zahlung der geschuldeten Vertragssumme, anderenfalls unverzüglich nach Zahlung des dem erreichten Bautenstand entsprechenden Teils der geschuldeten Vertragssumme durch den Käufer; für den Fall, dass das Bauvorhaben nicht vollendet wird, kann sich der Gläubiger vorbehalten, anstelle der Freistellung alle vom Käufer vertragsgemäß geleisteten Zahlungen bis zum anteiligen Wert des Vertragsobjektes zurückzuzahlen. Diese Erklärung ist dem Käufer in beglaubigter Kopie auszuhändigen. 5. Weitere Grundvoraussetzung für die Fälligkeit o.g. Raten ist das Vorliegen der Baugenehmigung zu dem vertragsgegenständlichen Bauvorhaben; diese Voraussetzung ist dem Käufer durch den Verkäufer zu bestätigen, sobald die Rechtsmittelfrist von einem Monat nach Erteilung der Genehmigung abgelaufen ist (§ 3 Abs. 1, Satz 1, Nr. 4 MaBV). 6. ***Die Kaufpreiszahlung für das Mobiliar gem. § 5 Ziff. 1 d) ist in zwei Raten fällig und zahlbar: a) bei Rohbaufertigstellung 50%, mithin ......................... EUR b) ca. 4 Wochen vor Lieferung/Einbau (voraussichtlich Ende Februar 2027 50%, mithin .............................. EUR.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83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84 7. Der Käufer überweist den Kaufpreis an den Verkäufer auf dessen Bausonderkonto IBAN: DE15 2699 1066 1198 0330 02 bei der Volksbank eG Braunschweig Wolfsburg es sei denn, im Freigabeversprechen des Gläubigers ist ein anderes Konto genannt. Dem Käufer ist bekannt, dass der Kaufpreis an den Grundschuldgläubiger abgetreten wird. Der Käufer ist darüber belehrt, dass aufgrund der Abtretung Zahlungen mit befreiender Wirkung nur auf das vorgenannte Bausonderkonto erfolgen soll. Sämtliche Zahlungen nach diesem Vertrag sind erst mit Gutschrift auf dem o.g. Empfängerkonto bewirkt. 8. Der unterzeichnende Notar hat auf die Vorschriften der MaBV hingewiesen. Der Erwerber bestätigt, ausführlich auf die Kaufpreisfälligkeitsvoraussetzung des § 3 MaBV hingewiesen worden zu sein und insbesondere auch darauf, dass der Veräußerer Zahlungen nur unter den Voraussetzungen des § 3 dieser Verordnung entgegennehmen und nur unter Beachtung des § 4 MaBV verwenden darf. § 7 Belastungsvollmacht 1. Um dem Käufer die Finanzierung zu erleichtern, verpflichtet sich der Verkäufer als derzeitiger Eigentümer, bei der Bestellung vollstreckbarer Grundschulden oder Hypotheken gem. § 800 ZPO in beliebiger Höhe nebst Zinsen bis zu 20 % p.a. und Nebenleistungen bis zu 10 % des Grundpfandrechtsbetrages zugunsten von Kreditinstituten der Europäischen Union mitzuwirken. Diese Mitwirkungspflicht besteht nur, wenn in den Grundpfandrechtsbestellungsurkunden folgende, von den Beteiligten bereits jetzt getroffenen Bestimmungen wiedergegeben werden: a) Sicherungsabrede Die Grundschuldgläubigerin darf das Grundpfandrecht nur insoweit als Sicherheit verwerten oder behalten, als sie tatsächlich Zahlungen mit Tilgungswirkung auf die Kaufpreisschuld des Käufers geleistet hat. Alle weiteren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84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85 Zweckbestimmungserklärungen, Sicherungs- und Verwertungsvereinbarungen innerhalb oder außerhalb dieser Urkunde gelten erst, nachdem der Kaufpreis vollständig gezahlt ist, in jedem Fall ab Eigentumsumschreibung. Ab diesem Zeitpunkt gelten sie für und gegen den Käufer als neuen Sicherungsgeber. b) Zahlungsanweisung Zahlungsansprüche, durch die diese erstmals valutiert werden, gelten mit der Maßgabe, dass sie zur Bezahlung des Kaufpreises gemäß den Regelungen dieses Kaufvertrages zu verwenden sind. Sie werden bereits jetzt an den Verkäufer abgetreten, soweit der Kaufpreis nicht anderweitig zur Freistellung des verkauften Vertragsbesitzes von eingetragenen Belastungen zu verwenden ist. Sofern eine Abtretung ausgeschlossen ist, wird hierdurch ein unwiderruflicher Zahlungsauftrag erteilt. c) Persönliche Zahlungspflichten, Kosten Der Verkäufer übernimmt im Zusammenhang mit der Grundpfandrechtsbestellung keinerlei persönliche Zahlungsverpflichtungen. Der Käufer verpflichtet sich, den Verkäufer von allen Kosten und sonstigen Folgen der Grundpfandrechtsbestellung freizustellen. d) Fortbestand der Grundpfandrechte Das bestellte Grundpfandrecht darf auch nach der Eigentumsumschreibung auf den Käufer bestehen bleiben. Alle Eigentümerrechte und Rückgewähransprüche, die mit ihr in Zusammenhang stehen, werden hiermit mit Wirkung ab Bezahlung des Kaufpreises, in jedem Fall ab Eigentumsumschreibung, auf den Käufer übertragen. Entsprechende Grundbucheintragung wird bewilligt. 2. Der Verkäufer erteilt dem Käufer Vollmacht, ihn bei allen vorstehenden Rechtshandlungen, einschließlich der Bewilligung und Beantragung von Rangänderungen zu vertreten. Dabei ist der Käufer von Beschränkungen des § 181 BGB befreit. 3. Diese Vollmacht gilt nur dann, wenn in der Grundschuldbestellungsurkunde die vorstehend unter a), b), c) und d) getroffenen Bestimmungen wiedergegeben werden. Von der vorstehenden Vollmacht kann nur durch Erklärung vor dem amtierenden Notar oder seinem amtlich bestellten Vertreter Gebrauch gemacht werden. Sie erlischt mit Vollzug der Auflassung aus dieser Urkunde im Grundbuch.</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85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86 Ferner ist in der Grundschuldbestellungsurkunde ein Rangvorbehalt für die noch zu bestellende Dienstbarkeit für den Betreiber der Photovoltaikanlage sowie für die Vormerkung zur Absicherung eines künftigen Betreibers der Photovoltaikanlage gem. § 1 Ziff. 2 dieser Urkunde zu erklären. 4. Der die Grundschuld beurkundende Notar wird angewiesen, die Eintragung der Grundpfandrechte im Grundbuch erst dann zu veranlassen, wenn ihm auf dessen schriftliche Anforderung hin der oder die Grundpfandrechtsgläubiger bestätigt haben, dass die zu bestellenden Grundpfandrechte bis zur vollständigen Zahlung des Kaufpreises nur als Sicherheit für diese Zahlung dienen und dass die Grundpfandrechtsgläubiger im Falle der Rückabwicklung Zug um Zug gegen Rückzahlung der Darlehensvaluta die erforderlichen Löschungsunterlagen herausgeben. 5. Die o.g. Vollmacht berechtigt den Käufer auch, im Namen des Verkäufers Zweckbestimmungserklärungen gegenüber dem Finanzierungsgläubiger abzugeben. 6. Der Käufer verpflichtet sich, dem Verkäufer unverzüglich nach Abschluss des heutigen Kaufvertrages einen Nachweis über die Sicherstellung des vereinbarten Kaufpreises in Form einer Kopie seines Darlehensvertrages und/oder den entsprechenden Eigenkapitalnachweis kenntnishalber zu übersenden. § 8 Abnahme Besitzübergang 1. Die Abnahme des Sondereigentums erfolgt nach Bezugsfertigkeit des Vertragsgegenstandes und erfolgter Zahlung der bis dahin fälligen Kaufpreisraten in einer Begehung durch Veräußerer und Erwerber. ***Mehrere Käufer erteilen sich bereits hier gegenseitig Vollmacht zur Abnahme. Die Übergabe des Sondereigentums an den Käufer findet am Übergabetermin Zug um Zug gegen Zahlung der dann noch fälligen Zahlungsrate einschließlich angefallener Zinsen und Kosten statt. Der Verkäufer ist verpflichtet, den vorgesehenen Abnahmetermin rechtzeitig mindestens zwei Wochen vorher - schriftlich mitzuteilen.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86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87 2. Erscheint der Erwerber zum Abnahmetermin nicht, ist der Verkäufer berechtigt, einen zweiten Abnahmetermin festzusetzen und diesen dem Erwerber wiederum zwei Wochen vorher schriftlich mitzuteilen; dabei ist auf die Folgen des erneuten Fernbleibens schriftlich hinzuweisen. Erscheint der Erwerber auch zum zweiten Abnahmetermin nicht, gilt das Vertragsobjekt als abgenommen. Der Abnahme steht es gleich, wenn der Erwerber das Vertragsobjekt ohne Einwilligung des Verkäufers bezieht. Im Übrigen gilt § 640 Abs. 2 BGB (Abnahmefiktion). 3. Die Abnahme des Gemeinschaftseigentums erfolgt nach vollständiger Fertigstellung des Vertragsgegenstandes im Projektteil a) in einer Begehung durch Veräußerer und Erwerber. Der Verkäufer kann verlangen, dass die zum Zeitpunkt der Abnahme des heute verkauften Sondereigentums bereits abnahmefähig hergestellten, in sich abgeschlossenen Teile des Gemeinschaftseigentums vom Käufer mit abzunehmen sind. 4. Das Gemeinschaftseigentum, das einem Erwerber zur Sondernutzung zugewiesen ist oder ausschließlich im Bereich dessen Sondereigentums liegt, ist von diesem Käufer zusammen mit seinem Vertragsobjekt abzunehmen. Der Käufer erteilt jedem anderen Eigentümer einer Sondereigentumseinheit widerrufliche Vollmacht zur Abnahme derjenigen Teile des Gemeinschaftseigentums, welche diesem zur Sondernutzung zugewiesen sind oder ausschließlich im Bereich seines jeweiligen Sondereigentums liegen. Die Abnahme der Außenanlagen obliegt der Wohnungseigentümergemeinschaft. 5. Bei jeder Abnahme wird eine Niederschrift gefertigt, die von beiden Vertragsbeteiligten (bzw. dem Bevollmächtigten) zu unterzeichnen ist und in die alle nicht voll erbrachten Bauleistungen und die seitens des Erwerbers gerügten Mängel in der Bauausführung aufzunehmen sind. Die noch ausstehenden Bauleistungen hat der Veräußerer unverzüglich zu erbringen; die festgestellten Baumängel sind unverzüglich zu beseitigen. Der Erwerber kann die Abnahme nicht aufgrund geringfügiger Nachbesserungsarbeiten oder wegen noch bestehender Unvollständigkeit von Wegen oder Außenanlagen verweigern, es sei denn, dass ihm der Bezug nicht zugemutet werden kann.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87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88 6. Etwa nach der Abnahme erfolgende Restarbeiten oder Mängelbeseitigungsarbeiten duldet der Erwerber entschädigungslos, auch wenn damit für ihn eine vorübergehende Beeinträchtigung verbunden ist. Dies gilt nicht, soweit die Beeinträchtigung einen Mieter zur Mietminderung berechtigen würde. 7. Mit der Abnahme des Sondereigentums gehen die Nutzungen, die Lasten sowie die Gefahr des zufälligen Untergangs und der zufälligen Verschlechterung des Vertragsgegenstandes auf den Erwerber über, ebenso die Verkehrssicherungspflicht und andere öffentlich-rechtliche Verpflichtungen aber auch die Verpflichtung zur Zahlung von Wohngeld, Erhaltungsrücklagen sowie der nach den gesetzlichen Regelungen zunächst zu übernehmenden Wohngebäudeversicherung. 8. Das Grundstück ist mit Strom, Wasser und Abwasser erschlossen. Es handelt sich hierbei um Beschaffenheitsvereinbarungen, nicht um eine Garantie. § 9 Rechte bei Sachmängeln 1. Nach Erörterung der gesetzlichen Vorschriften regeln die Beteiligten einvernehmlich die Sachmängelhaftung wie folgt: Bezüglich des Grundstücks: Alle Ansprüche und Rechte des Käufers wegen Sachmängeln am Grund und Boden werden hiermit ausgeschlossen, es sei denn, das Gebäude kann auf dem Grundstück nicht bestimmungsgemäß genutzt werden oder die Beschaffenheit des Grundstückes führt zu Sachmängeln am Bauwerk. Eine Haftung für die im Grundbuch eingetragene Grundstückgröße wird nicht geleistet. Der Verkäufer versichert, dass ihm nichts bekannt ist von verborgenen Mängeln, schädlichen Bodenveränderungen i. S. des § 2 Abs. 3 Bundes-Bodenschutzgesetz (BBodSchG) und/oder Altlasten i. S. des § 2 Abs. 5 BBodSchG. Der Verkäufer erklärt, dass ihm nicht erkennbare Mängel nicht bekannt sind. Bezüglich des Gebäudes: Wegen etwaiger Mängel an den erbrachten Neubauleistungen gilt das werkvertragliche Leistungsstörungsrecht des BGB.</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88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89 Für Mängel im Bereich des Sondereigentums beginnt die Verjährungsfrist mit der Abnahme des Sondereigentums, für Mängel im Bereich des Gemeinschaftseigentums im Projektteil a) mit dessen Abnahme. 2. Die Sachmängelhaftung erstreckt sich nicht auf normale Abnutzung, insbesondere nicht auf Teile und Anlagen, die einem besonderen Verschleiß unterliegen, soweit deswegen eine Reparaturbedürftigkeit eintritt. Es obliegt daher dem Käufer, solche Bauteile und Anlagen durch laufende Wartung in einem ordentlichen Zustand zu erhalten. Der Verkäufer weist darauf hin, dass die elastischen Fugen an Duschtassen und Badewannen Wartungsfugen sind. Das gleiche gilt für die elastischen Fugen in den Übergängen der gefliesten Wandflächen zu den Bodenflächen bzw. zwischen einzelnen Wandflächen. Sie müssen in regelmäßigen Zeitabständen überprüft und gegebenenfalls erneuert werden um Folgenschäden zu vermeiden. Der Verschleiß bzw. der Verbrauch dieser Fugen stellt daher keinen Mangel dar. Gleiches gilt für Rissbildungen in Bauteilen, wie Wänden, Decken, Putz- und Trockenbaubekleidungen, Anschlussfugen (z. B. zwischen Holzbauteilen und Fassadenputz etc.), die aufgrund der bauphysikalischen und materialbedingten Eigenschaften der Bauteile entstehen (z. B. Kriechen, Schwinden, Setzungen oder Austrocknungsprozesse). 3. Von den vorgenannten vereinbarten Beschränkungen ausgenommen ist eine Haftung des Verkäufers für Vorsatz oder Arglist. Garantien werden nicht abgegeben. Hinsichtlich von Schadenersatzansprüchen bleibt die Haftung für grob fahrlässig verursachte Schäden und für Schäden aus der Verletzung des Lebens, des Körpers oder der Gesundheit, die auf einer fahrlässigen Pflichtverletzung des Veräußerers, seines gesetzlichen Vertreters oder eines Erfüllungsgehilfen beruhen, unberührt. 4. Sicherungshalber tritt der Verkäufer die ihm gegen die am Bau beteiligten Architekten und Bauingenieure, Bauhandwerker, Zulieferer und alle sonst mit dem Bau befassten Dritten zustehenden Erfüllungs- und Schadensersatzansprüche sowie seine Rechte bei Mängeln an den Käufer ab. Die eigene Haftung des Bauträgers bleibt unberührt. Die Sicherungsabtretung wird wirksam, wenn und soweit der Bauträger mit der Mängelbeseitigung in Verzug ist und den Mangel binnen angemessener Nachfrist nicht behoben hat; sie erlisch t, wenn und soweit der Mangel vom Bauträger oder dem am Bau Beteiligten behoben ist.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89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90 § 10 Rechtsmängel Erklärungen und Vollmachten zum Projektteil c) 1. Der Verkäufer schuldet dem Käufer die Übertragung des Vertragsobjektes frei von eingetragenen und nicht eingetragenen Lasten in Abteilung II und III des Grundbuches sowie Eintragungen im Baulastenverzeichnis, soweit nicht Verpflichtungen in diesem Vertrag vom Käufer übernommen oder mit Zustimmung des Erwerbers eingetragen werden. In diesem Zusammenhang erklärt der Käufer, die in § 1 dieser Urkunde genannten Dienstbarkeiten in Abtl. II Nr. 1, 2 und 3 sowie die Photovoltaikdienstbarkeit nebst Vormerkung des Grundbuches wertneutral zu übernehmen. Die Beteiligten wurden darauf hingewiesen, das Baulastenverzeichnis selbst einzusehen. 2. Die Beteiligten stimmen der Löschung aller nicht übernommenen Rechte in Abtl. II und III des Grundbuches mit dem Antrag auf Vollzug zu. Sie bewilligen und beantragen die Löschung auch, soweit sie selbst berechtigt sind. 3. Soweit im Zusammenhang mit dem Gesamtbauvorhaben (Projektteile b) und c)) Einrichtungen und Anlagen zur Ver- oder Entsorgung (einschließlich Photovoltaikanlagen) eingebaut werden, ist der Erwerber über die Regelungen in Ziff. 1 darüber hinaus zur Duldung und zur Bestellung entsprechender Dienstbarkeiten im Grundbuch ohne Minderungsmöglichkeiten des Kaufpreises oder anderweitiger Zahlungen verpflichtet. In diesem Fall ist der Käufer auch verpflichtet, Vorrangerklärungen abzugeben. Dasselbe gilt für Baulasten im Zusammenhang mit dem Bauvorhaben. Zwecks Bestellung dieser Eintragungen einschließlich der Vorrangeinräumung solcher Dienstbarkeiten gegenüber der zugunsten des Käufers etwa eingetragenen Auflassungsvormerkung und bestellten Grundpfandrechten erteilt der Käufer dem Verkäufer unter Befreiung von den Beschränkungen des § 181 BGB bereits hier unwiderrufliche Vollmacht. Der Käufer erteilt dem Verkäufer unter Befreiung von den Beschränkungen des § 181 BGB ebenfalls unwiderruflich Vollmacht, weitere Dienstbarkeiten, wie Gehund Fahrtrechte, Reallasten sowie Rechte zur Ver- und Entsorgung zugunsten öffentlicher und privater Versorgungsträger sowie von Nachbargrundstücken zu bestellen und zu übernehmen und diesen Rang vor der Vormerkung des Erwerbers sowie vor Rechten in Abt. III des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90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91 Grundbuchs zu verschaffen sowie bei bestehenden Rechten dieser Art Erklärungen zur Inhaltsänderung und Löschung abzugeben. Diese Vollmacht zur Bestellung von Dienstbarkeiten oder/und Baulasten gilt auch, sofern der Käufer bereits Eigentümer der Immobilie ist. Etwa mit der Bestellung und Eintragung dieser Rechte und Belastungen in Zusammenhang stehenden Kosten trägt der Verkäufer. 4. Der Käufer verpflichtet sich, die Realisierung der möglicherweise auch nach Fertigstellung der Projektteile a) und b) zukünftigen Baumaßnahme „Tonnengewölbe“ (Projektteil c)) nicht zu verhindern oder zu verzögern. Hierbei verpflichtet er sich, alle nötigen Handlungen vorzunehmen oder Erklärungen abzugeben und entgegenzunehmen, die für die Verwirklichung dieses zukünftigen Vorhabens noch erforderlich sein sollten bzw. alles zu unterlassen, was die Realisierung verhindern könnte. Auch etwaige am Gemeinschaftsund/oder Sondereigentum während der Baumaßnahmen eintretenden außergewöhnlichen Belastungen und Beschränkungen, zeitlich begrenzt oder dauernd bestehend, werden ohne Ausgleichspflicht des Errichters akzeptiert und hingenommen; dies bezieht sich auch auf etwaige Veränderungen, die sich aufgrund von baulichen oder nutzungsrelevanten Notwendigkeiten ergeben (wie z.B. zusätzliche Lüftungsschächte, Glaskuppeln, Fluchtwege, Fluchttreppen o.ä.), sofern sich diese nicht unbillig in die Gestaltung der Gesamtanlage einfügen. Der Käufer ermächtigt den das Tonnengewölbe (Projektteil c)) ausbauenden Eigentümer und den jeweiligen Verwalter unter Befreiung von den Beschränkungen des § 181 BGB, ihn bei der Abgabe der zur Grundbucheintragung notwendigen und dienlichen Erklärungen und Anträgen gegenüber dem Grundbuchsamt und dem Notar zu vertreten; hierzu wird dem Eigentümer des Projektteiles c) unwiderruflich Vollmacht erteilt. Der Käufer verpflichtet sich, die dem aufteilenden Eigentümer des Tonnengewölbes erteilten Vollmacht nicht zu widerrufen und im Fall der Weiterveräußerung dessen Erwerber zu einer entsprechenden Vollmachtserteilung mit Weitergabeverpflichtung zu verpflichten. Alle hierfür anfallenden Kosten trägt der Eigentümer des Projektteiles c). 5. Der Verkäufer weist den Käufer darauf hin, dass weder er noch von ihm beauftragte Dritte Erklärungen oder Verpflichtungen für den Verkäufer über diesen Vertrag hinaus abzugeben haben. Alle in diesem Vertrag nicht genannten Positionen gelten als nicht vereinbart und nicht bindend. Dies gilt insbesondere für Wertentwicklungserwartungen und für steuerliche Berechnungen des Käufers.</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91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92 § 11 Energetik 1. Der Verkäufer weist darauf hin, dass für eine vom Käufer etwa gewünschte kostenpflichtige Inanspruchnahme von KfW-Fördermitteln die Beauftragung eines Sachverständigen zwingend erforderlich ist und empfiehlt die Beauftragung folgenden Sachverständigen: ITG Energieinstitut GmbH Sabine Faulbaum 39106 Magdeburg, Josef-von-Fraunhofer-Str. 2 EMail s.faulbaum@itg-energie.de Fax (0391) 544 342 – 99. Die Kosten für die KfW-Bestätigung zum Antrag sowie die KfW-Bestätigung nach Durchführung in Höhe von 490,- € inkl. MwSt. werden direkt zwischen ITG Energieinstitut GmbH und Käufer abgerechnet. Der Verkäufer empfiehlt dem Käufer, sich im Einzelnen über die aktuellen Förderrichtlinien der KfW, die einzuhaltenden Formen und Fristen für An- träge zu unterrichten und beraten zu lassen. 2. Auf Grund der Praxis der KfW, die Bedingungen ihrer Förderrichtlinien regelmäßig zu ändern und zu erhöhen, kommt in Betracht, dass die Bedingungen bereits zum Zeitpunkt dieses Vertragsschlusses nicht mehr gültig sind. Der Verkäufer übernimmt daher ausdrücklich keine Gewähr dafür, dass die Bedingungen für die Inanspruchnahme von zinsvergünstigten Darlehen und/oder Zuschüssen der KfW oder anderer Förderinstitute vorliegen. Für weitere Informationen steht es dem Käufer frei, sich mit der für das Projekt verantwortlichen o.g. Energiegutachter in Verbindung zu setzen. 3. Die Parteien vereinbaren ein „KfW -Effizienzhaus 40“, „Klimafreundliches Wohngebäude“ gemäß der Bestätigung des o.g. Sachverständigen zum Antrag „Klimafreundlicher Neubau (297/298)“ als Sollbeschaffenheit. Der Verkäufer haftet gegenüber dem Käufer für dieses vereinbarte KfW-Effizienzhaus-Niveau. Die QNG-Zertifizierung ist durch den Verkäufer bereits beauftragt. 4. Der Verkäufer ist verpflichtet, dem Käufer die nach den Richtlinien der KfW aufzubewahrenden Unterlagen bei Besitzantritt zu übergeben. Dieser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92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93 Anspruch verjährt in 5 Jahren nach Fertigstellung des Bauvorhabens. Solange die Unterlagen bei dem o.g. KfW-Sachverständigen für den Käufer zur Verfügung stehen, kann der Verkäufer von einer Übersendung der Unterlagen an den Käufer absehen, es sei denn, der Käufer besteht darauf. Der Verkäufer ist berechtigt, die Unterlagen auf einem Datenträger elektronisch zur Verfügung zu stellen. § 12 Änderungszustimmung 1. Der Veräußerer weist den Erwerber darauf hin, dass die derzeitige Teilungserklärung nebst Gemeinschaftsordnung möglicherweise noch geändert werden muss. Die Notwendigkeit einer Anpassung kann sich insbesondere durch Änderungswünsche späterer Erwerber, Auflagen der Bauaufsichtsbehörde oder bautechnischer Notwendigkeiten ergeben. Der Erwerber stimmt daher baulichen Änderungen und jeglichen Änderungen der Teilungserklärung seitens des Verkäufers zu und erteilt diesem unter Befreiung von den Beschränkungen des § 181 BGB unwiderruflich Vollmacht, die Verweisurkunde abzuändern und alle hierzu erforderlichen und zweckmäßigen Erklärungen abzugeben und entgegenzunehmen, auch betreffend Änderungen von Miteigentumsanteilen oder Sondernutzungsrechten sowie die Auflassung zu erklären bzw. zu wiederholen. Die Vollmacht berechtigt auch • zur Umwandlung von Sonder- in Gemeinschaftseigentum oder/und von Gemeinschafts- in Sondereigentum, • bestehendes Sondereigentum in mehrere Sondereigentumseinheiten zu unterteilen oder diese zusammenzulegen sowie • bestehende Sondernutzungsrechte zu unterteilen oder zu vereinigen • Räume zu tauschen sowie deren Lage und Größe zu verändern • beliebige Umplanungen im Hinblick auf die Projektteile b) und c) vorzunehmen. Bei der baulichen Ausführung solcher Änderungen ist der Verkäufer berechtigt, auch an tragenden Wänden oder Decken, die gemeinschaftliches Eigentum sind, Mauer- oder Deckendurchbrüche (z. B. für Türen) zu schaffen und wieder zu schließen, sofern dies mit baubehördlicher Genehmigung und unter Beachtung der Regeln der Technik geschieht. 2. Gegenüber dem Grundbuchamt ist die Vollmacht unbeschränkt.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93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94 Der Veräußerer ist jedoch gegenüber dem Erwerber bei Ausübung der Vollmacht dergestalt beschränkt, dass ohne Zustimmung des Erwerbers Lage, Größe, Grundriss und Umfang seines heute gekauften Sondereigentums und etwaiger ihm zugeordneter Sondernutzungsrechte nicht geändert werden dürfen, sowie der Mitgebrauch des gemeinschaftlichen Eigentums des betreffenden Erwerbers bei wirtschaftlicher Betrachtung nicht unzumutbar beeinträchtigt werden darf. Untervollmacht kann erteilt werden. 3. Die Vollmacht erlischt sechs Monate nach Umschreibung der letzten verkauften Raumeigentumseinheit im Grundbuch. Vollmacht und Untervollmacht können nur vor dem AbwicklungsNotar {{NOTAR_NAME}} in {{NOTAR_STADT}} oder dessen Vertreter im Amt ausgeübt werden. § 13 Eigentumsverschaffungsvormerkung 1. Die Beteiligten bewilligen und der Käufer beantragt mit Vorlage der Vollmachtsbestätigung des Verkäufers in notarieller Form die Eintragung einer Vormerkung zur Sicherung des Anspruches des Käufers auf Eigentumsübertragung im Wohnungsgrundbuch an erster Rangstelle, zunächst jedoch im Rang nach den in § 1 genannten Rechten. Der Verkäufer behält sich vor, an dem Kaufgegenstand für den noch zu bestimmenden Betreiber der Photovoltaikanlage eine Dienstbarkeit zur Betreibung dieser Anlage sowie eine Vormerkung zur Absicherung eines künftigen Erwerbers der Photovoltaikanlage gem. § 1 Ziff. 2 eintragen zu lassen. Die Eintragung des Rangvorbehaltes bei der vorstehend bewilligten Auflassungsvormerkung wird hiermit bewilligt und beantragt. 2. Die Vertragsparteien beantragen schon jetzt, diese Vormerkung Zug um Zug mit der Eigentumsumschreibung auf den Käufer zu löschen, sofern in der Zwischenzeit keine die Rechte des Käufers beeinträchtigenden Eintragungen erfolgt oder beantragt sind, jedoch ausdrücklich mit Ausnahme solcher Belastungen, die der Finanzierung der sich aus der Urkunde ergebenden Zahlungsverpflichtungen des Käufers dienen.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94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95 § 14 Auflassung 1. Die Vertragsparteien sind darüber einig, dass das vorgenannte Vertragsobjekt vom Verkäufer auf den Käufer zu Alleineigentum***im vorgenannten Beteiligungsverhältnis übergeht. 2. Diese Erklärung der Auflassung enthält jedoch ausdrücklich weder die Eintragungsbewilligung noch den Eintragungsantrag. Zu deren Erklärung wird der Abwicklungsnotar, sein amtlicher Vertreter oder Nachfolger durch die Beteiligten unwiderruflich, über den Tod hinaus und unter Befreiung von den Beschränkungen des § 181 BGB bevollmächtigt. § 15 Vorlagehaftung 1. Der Verkäufer hat dem Käufer das Eigentum Zug um Zug gegen Zahlung des geschuldeten Kaufpreises zu verschaffen. 2. Der Abwicklungsnotar wird gemäß § 53 BeurkG von den Parteien übereinstimmend angewiesen, die Eigentumsumschreibung gemäß dieser Vollmacht erst zu bewilligen und zu beantragen, wenn ihm a) der Verkäufer unverzüglich nach Erhalt des Geldes pflichtgemäß schriftlich bestätigt oder hilfsweise der Käufer durch Bankbestätigung nachgewiesen hat, dass der geschuldete Kaufpreis vollständig bezahlt ist; b) zusätzlich die Beteiligten die Kaufpreiszahlung durch Vorlage geeigneter Belege (z. Bsp. Bankbestätigung, Kontoauszüge, Buchungsnachweise) gegenüber dem unterzeichnenden Notar nachgewiesen haben und c) die Zahlung der notariellen Urkunds- und Vollzugsgebühren erfolgte. Auf die Gefahr einer verzögerten Einreichung beim Grundbuchamt im Falle einer etwaigen nicht fristgerechten Zahlung und Nichtvorlage der Unterlagen gem. b) wurde vom unterzeichnenden Notar hingewiesen.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95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96 3. Die Vorlagesperre gilt nur für die Betreuungstätigkeit des Abwicklungsnotars und ändert nichts an den Leistungspflichten der Beteiligten. § 16 Auftrag an den Notar {{NOTAR_NAME}} in {{NOTAR_STADT}} 1. Der Notar {{NOTAR_NAME}} in {{NOTAR_ADRESSE}} (in dieser Urkunde auch „Abwicklungs- oder Vollzugsnotar“ genannt) wird von den Beteiligten beauftragt, alle zum Vollzug erforderlichen Genehmigungen, Bescheinigungen und Löschungsunterlagen einzuholen und namens der Beteiligten alle nach dessen Ermessen erforderlichen Erklärungen abzugeben und entgegenzunehmen. Sie sollen mit dem Eingang beim Abwicklungsnotar als allen Beteiligten mitgeteilt gelten und rechtswirksam sein, sofern diese bedingungs- und auflagenfrei ergehen. 2. Alle in dieser Urkunde erteilten Vollmachten, Weisungen und einseitigen Erklärungen sind unabhängig von der Erteilung etwaiger zur Rechtswirksamkeit des Vertrages im Übrigen notwendigen Genehmigungen erklärt. 3. Die Beteiligten erteilen dem Abwicklungsnotar Auftrag und Vollmacht, für sie alle Erklärungen abzugeben, die nach Ansicht der jeweiligen Behörde, insbesondere des Grundbuchamtes, für einen ordnungsgemäßen Vollzug noch erforderlich sind. § 17 Vollmachten 1. Alle Beteiligten erteilen den Angestellten des mit der Abwicklung betrauten Notars {{NOTAR_NAME}} in 39112 Magdeburg, Humboldtstr. 2, der Notarfachwirtin Nadyn Stiebitz, Notarfachangestellten Nadine Berger, Notarfachangestellten Ines Große, -mehreren je einzeln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96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97 unter Befreiung von den Beschränkungen des § 181 BGB die von der Vertragswirksamkeit unabhängige, übertragbare, nicht bedingte und durch den Tod eines Vollmachtgebers nicht erlöschende V o l l m a c h t - nicht Auftrag -, Erklärungen -auch Identitäts- und Auflassungserklärungen- abzugeben und entgegenzunehmen, die nach dem Ermessen des Notars zum Vollzug dieser Urkunde, etwa notwendiger Änderungen sowie zur Löschung auf dem Vertragsgegenstand eingetragener Belastungen erforderlich oder zweckdienlich sind oder damit irgendwie zusammenhängen sowie zur Herbeiführung und Entgegennahme aller zu diesem Vertrag und zu seinem Vollzug etwa erforderlichen Genehmigungen. Im Innenverhältnis gelten jedoch die dem Verkäufer in dieser Urkunde auferlegten Bindungen. Die Vollmacht gilt erforderlichenfalls auch zur Änderung der Teilungserklärung, zum Abschluss von Vertragsnachträgen, zur Auflassung auf den Erwerber oder seine Rechtsnachfolger sowie zur Verfügung über die zu Gunsten des Erwerbers eingetragene Eigentumsvormerkung (Löschung und Rangänderung). 2. Der Umfang der Vollmacht ist nach außen nicht beschränkt; im Innenverhältnis dürfen die Bevollmächtigten von der Vollmacht nur anlässlich von Beurkundungen vor dem Abwicklungsnotar oder seinem Vertreter im Amt Gebrauch machen. 3. Für die bevollmächtigten Angestellten des Abwicklungsnotars entfällt jede Prüfungspflicht und Haftung. Diese obliegt lediglich dem Notar {{NOTAR_NAME}}. 4. Der Käufer erteilt dem Verkäufer hiermit unter Befreiung von den Beschränkungen des § 181 BGB Auftrag und Vollmacht, alle Erklärungen gegenüber Behörden abzugeben und Rechtshandlungen vorzunehmen, die für die Ausstellung von Bescheinigungen für Abschreibungen gem. EStG erforderlich oder zweckdienlich sind. Dabei ist der Verkäufer berechtigt und verpflichtet, der zuständigen Behörde eine ordnungsgemäße Abrechnung bzgl. der Herstellungskosten am Vertragsobjekt vorzulegen. Untervollmacht kann erteilt werden.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97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98 § 18 Teilwirksamkeit Sollte eine Bestimmung dieses Vertrages unwirksam sein, bleibt der Vertrag im Übrigen wirksam. § 19 Belehrungen 1. Der unterzeichnende Notar hat die Erschienenen über die rechtliche Bedeutung der von ihnen abgegebenen Erklärungen belehrt und insbesondere darauf hingewiesen, • dass das Eigentum am Kaufobjekt erst mit der Umschreibung im Grund- buch übergeht, • dass alle wesentlichen Vereinbarungen - insbesondere hinsichtlich des Kaufpreises - beurkundet sein müssen und bei einem Verstoß gegen diese Vorschrift (§ 311 b BGB) der Vertrag in seinem gesamten Inhalt unwirksam ist, • dass die Beteiligten dem Abwicklungsnotar aufgrund der Regelungen im Geldwäschegesetz die Kaufpreiszahlung durch Vorlage eines Kontoauszuges oder einer Bankbestätigung nachzuweisen haben; die weiteren Vorschriften über das Barzahlungsverbot, insbesondere dass die Kaufpreisschuld bei Barzahlungen nicht erfüllt ist, wurde erläutert, • dass die Umschreibung von der Vorlage der steuerlichen Unbedenklichkeitsbescheinigung abhängig ist und diese Bescheinigung erst erteilt wird, wenn die Grunderwerbsteuer gezahlt, sichergestellt oder gestundet worden ist, • dass eine steuerliche und wirtschaftliche Beratung nicht zu seinen Amtspflichten gehört und dass mit dieser Beurkundung eine Beratung über steuerliche und wirtschaftliche Folgen des Vertrages nicht verbunden ist; er empfahl eine Beratung vor Beurkundung durch einen Steuerberater, • dass zur Kaufpreisfinanzierung evtl. erforderliche Grundpfandrechte unverzüglich bestellt werden müssen, anderenfalls der Käufer in Verzug geraten kann, • dass für Rückstände an öffentlichen Lasten und Abgaben, insbesondere für Erschließungsbeiträge weiter der Vertragsgrundbesitz haftet, • dass die Beteiligten unabhängig der vereinbarten Regelungen dieses Vertrages, die nur im Innenverhältnis gelten, gesamtschuldnerisch für Steuern, Notar- und Gerichtsgebühren haften.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98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99 2. Nach Hinweis des Notars auf das Widerrufsrecht bei verbundenen Verbraucherverträgen erklären die Vertragsteile, dass der Verkäufer dem Käufer kein Darlehen zum Erwerb des Vertragsgegenstandes gewährt und der Darlehensgeber des Käufers den Erwerb nicht über die Darlehensgewährung hinaus durch Zusammenwirken mit dem Verkäufer fördert. § 20 Kosten 1. Sämtliche Notar- und Grundbuchamtsgebühren, die mit der Errichtung dieses Vertrages und seiner Durchführung (Kosten für die Vollmachtsbestätigung , Grundpfandrechtsbestellung u.a.) anfallen sowie die Grunderwerbsteuer trägt der Käufer. Diese Kostenübernahmeerklärung gilt insbesondere auch gegenüber dem Abwicklungsnotar. Die Kosten der Löschung nicht übernommener Belastungen sind vom Verkäufer zu tragen. 2. Der Käufer trägt 1/104 der Kosten der Verweisurkunde. Diese jeweiligen Kosten gem. Ziff. 2 werden dem Käufer vom Verkäufer mit separater Rechnung zu gegebener Zeit, jedoch nicht vor Fälligstellung des Kaufpreises, in Rechnung gestellt. 3. Die Kosten einer evtl. Rechtsberatung, Steuerberatung und sonstigen Beratung trägt jede Partei selbst. 4. Der Verkäufer weist darauf hin, dass die diesen Vertrag vermittelnde Firma gegenüber dem Verkäufer Provisionsansprüche hat.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99 —</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100 § 21 Abschriften 1. Die Beteiligten beauftragen den amtierenden Notar, die erforderliche Anzahl von beglaubigten und einfachen Fotokopien zu erteilen. Dabei sollen dem Abwicklungsnotar zwei beglaubigte Fotokopien und eine einfache, nicht gebundene Fotokopie für den Vollzug übersandt werden. 2. Käufer und Verkäufer erbitten je zwei beglaubigte Fotokopien dieser Urkunde für sich; die abzulösende Gläubigerbank des Verkäufers soll eine beglaubigte Fotokopie über den die Grundschuld bestellenden Notar erhalten. Die Niederschrift nebst Anlage (Mobiliaraufstellung) wurden den Erschienenen vom unterzeichnenden Notar vorgelesen, von ihnen genehmigt und von allen Beteiligten eigenhändig wie folgt unterschrieben: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100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101 Anlage zum Kaufvertrag - 1- Raumwohnung Mobiliaraufstellung: Der Verkäufer stattet im vorgenannten Neubauprojekt die zu erwerbende Wohnung mit folgenden neuen Möbelstücken von Markenherstellern mit gehobener Qualität und Güte aus und verkauft diese an den Käufer zum Pauschalpreis in Höhe von 11.900,00 €, inkl. Transport und Montage, wie folgt weiter: 1. Küchenzeile ca. 2,80 m breit, mit Ober- und Unterschränken, und nachfolgenden Geräten / Elektrogeräten inkl. - 1 Spüle mit Brausearmatur - 1 Herd / Kochfeld (Ceran/ o. Induktion) - 1 Dunstabzugshaube - 1 Backofen - 1 Kühl-Gefrierkombination - 1 Geschirrspüler 2. Wohnen: - 1 Couch/Sofa mit Beistelltisch / 1-Raum= 2-Sitzer - 1 Sekretär/Konsole mit 1 Stuhl - 1 Bett 90 x 200 cm mit passender Matratze - 1 Kleiderschrank - 1 Garderobe - 1 Esstisch, 2 Stühle und 1 Lampe dazu 3. Bad: - 1 Waschbeckenunterschrank 60 cm breit (oder 80 cm breit) - 1 Hängeschrank - 1 LED-Spiegel</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101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102 Anlage zum Kaufvertrag - 2- Raumwohnung Mobiliaraufstellung: Der Verkäufer stattet im vorgenannten Neubauprojekt die zu erwerbende Wohnung mit folgenden neuen Möbelstücken von Markenherstellern mit gehobener Qualität und Güte aus und verkauft diese an den Käufer zum Pauschalpreis in Höhe von 14.900,00 €, inkl. Transport und Montage, wie folgt weiter: 1. Küchenzeile ca. 2,80 m breit, mit Ober- und Unterschränken, und nachfolgenden Geräten / Elektrogeräten inkl. - 1 Spüle mit Brausearmatur - 1 Herd / Kochfeld (Ceran/ o. Induktion) - 1 Dunstabzugshaube - 1 Backofen - 1 Kühl-Gefrierkombination - 1 Geschirrspüler 2. Wohnen: - 1 Couch/Sofa mit Beistelltisch, 2-Raum=2 bis 3-Sitzer - 1 Sekretär/Konsole mit 1 Stuhl - 1 Bett 90 x 200 cm mit passender Matratze - 1 Garderobe - 1 Esstisch, 4 Stühle und 1 Lampe dazu 3. Bad: - 1 Waschbeckenunterschrank 60 cm breit (oder 80 cm breit) - 1 Hängeschrank - 1 LED-Spiegel 4. Schlafen - 1 Bett 180 x 200 cm, passend dazu 2 Matratzen 90x200 cm - 2 Nachtschränke - 1 Kleiderschrank</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102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308 MUSTER - Vorlage SE-Verwaltung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308 —</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1/5 VERWAL TERVERTRAG für Sonder-/ Teileigentum Zwischen dem Käufer/ Sonder-/Teileigentümer ___________________________________ Vorname, Name ___________________________________ Straße, Hausnr. ___________________________________ PLZ, Ort ___________________________________ Wohnungs-Nr. - nachstehend Eigentümer genannt Und {{VERWALTER_NAME}} Anschrift: {{VERWALTER_STRASSE}} in 39104 Magdeburg, vertreten durch die Geschäftsführer, {{VERWALTER_GESCHAEFTSFUEHRER}} - nachstehend Verwalter genannt wird folgender Verwaltervertrag geschlossen: § 1 Gegenstand des Vertrages Der Verwalter übernimmt die Verwaltung des Sonder-/ Teileigentums in der WEG-Anlage: urbanunits - The Central Der Verwalter verpflichtet sich, die Mietverwaltung gewissenhaft zu führen und alles zu tun, was zu einer ordnungsgemäßen Verwaltung notwendig ist und dabei die Interessen des Eigentümers zu wahren und zu vertreten. Die gesetzlichen Regelungen gelten als Grundlage für den allgemeinen Geschäftsbetrieb.</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309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2/5 § 2 Dauer des Vertrages und Kündigung Dieser Verwaltervertrag wird auf die Dauer von 3 Jahren fest abgeschlossen. Er beginnt mit Vertragsbeginn des ersten Mietvertrages. Vor Ablauf dieser Vertragszeit kann der Vertrag von beiden Teilen nur aus wichtigem Grunde gekündigt werden. Die Kündigung ist nur wirksam, wenn sie schriftlich erfolgt. Wird das Sonder-/Teileigentum während der Vertragslaufzeit veräußert, endet der Vertrag mit Tag des Besitzüberganges des Sonder-/Teileigentums an den Käufer. § 3 Rechte und Pflichten des Verwalters Der Verwalter ist insbesondere verpflichtet und berechtigt: 1. Den baulichen Zustand der Mietsache zu überwachen und die erforderlichen Reparaturen ausführen zu lassen. Bei Reparaturaufträgen oder Aufträgen für sonstige Leistungen, die den Betrag von 500,00 € übersteigen, hat der Verwalter vorher die Zustimmung des Eigentümers einzuholen außer bei Arbeiten, die zur Beseitigung eines Notstandes dienen. Erteilt der Eigentümer keine Zustimmung zur Durchführung der Arbeiten, stellt er den Verwalter von der Haftung für Folgeschäden frei. 2. Den pünktlichen Eingang aller Mietzahlungen zu überwachen, die Mietzahlungen entgegenzunehmen. Um Mietverträge zu kündigen und neu Verträge abzuschließen, ist der Verwalter nach vorhergehendem Einverständnis durch den Eigentümer befugt. 3. Mietrückstände der Mieter können vom Verwalter außergerichtlich wie gerichtlich nach Rücksprache mit dem Eigentümer geltend gemacht werden. 4. Fristgerechte Prüfung und Entrichtung öffentlicher Abgaben und wiederkehrender Lasten des Eigentümers sowie Prüfung und Bezahlung anfallender Rechnungen unter Wahrung der Belange des Eigentümers und Einhaltung der gesetzlichen Bestimmungen und behördlichen Auflagen. 5. sonstige eingehende Gelder aber auch rechtsgeschäftliche Erklärungen oder Zustellungen, die an den Auftraggeber als Eigentümer gerichtet sind, für den Eigentümer entgegenzunehmen. Erklärungen und Zustellungen sind jedoch unverzüglich an den Eigentümer weiterzuleiten oder in sonstiger Weise dem Inhalt nach dem Eigentümer mitzuteilen. 6. Im Übrigen alles zu tun, damit ein ordnungsgemäßes und friedliches Wohnen im Haus gewährleistet ist und Schäden an der Wohnung und Nachteile für den Auftraggeber abgewendet und vermieden werden. 7. Die sich aus der Abrechnung ergebende Guthaben, die nicht für laufende Verwaltungsaufgaben oder anstehende sonstige Zahlungen benötigt werden, sind vom Hausverwalter auf das Konto des Eigentümers IBAN: BIC.: zu überweisen.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310 —</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3/5 § 4 Vorschüsse Der Verwalter hat die Ausgaben für Verwaltung aus den eingezogenen Mieten zu bestreiten, ist jedoch nicht verpflichtet, für den Eigentümer in Vorschuss zu treten. Reichen die Einnahmen zur fristgerechten Deckung der Ausgaben nicht aus, ist der Eigentümer verpflichtet, die erforderlichen Mittel zur Verfügung zu stellen, wozu ihn der Verwalter rechtzeitig aufzufordern hat. § 5 Abrechnung Über die Einnahmen und Ausgaben hat der Verwalter jährlich ordnungsgemäße Abrechnung zu erteilen. Im laufenden Jahr zahlt der Verwalter aus den Einnahmen der Sonder- / Teileigentumsverwaltung monatliche Abschläge an den Eigentümer. Die Abrechnung wird pauschal erfolgen. Aus der Abrechnung sollen die Mieteingänge sowie anderweitige Einnahmen und die Ausgaben geordnet zu ersehen sein. Werden die Abrechnungen nicht innerhalb von drei Monaten nach Empfang durch den Eigentümer beanstandet, so gelten sie als anerkannt. Der Eigentümer ist berechtigt, zu den üblichen Geschäftszeiten Einsicht in die Bücher und Akten seiner Hausverwaltung zu nehmen, die der Verwalter getrennt von denen anderer Verwaltungen zu führen hat. Für alle eingehenden Gelder hat der Verwalter ein Treuhandkonto einzurichten. Der Verwalter erhält für dieses Konto Bankvollmacht. Im Übrigen hat der Verwalter Gelder oder sonstige Vermögensgegenstände, die zur Verwaltung gehören, von seinem sonstigen Vermögen stets getrennt zu halten. Über alle Einnahmen und Ausgaben hat der Beauftragte ordnungsgemäß Buch zu führen und alle Belege sorgfältig zu sammeln. Die Kontoführungsgebühren gehen zu Lasten des Eigentümers und werden bei der Verwaltung mehrerer Eigentümer nach verwalteten Einheiten aufgeteilt. § 6 Vertretung Sollte der Verwalter vorübergehend in der Ausübung seiner Tätigkeit verhindert sein, so ist er berechtigt, eine geeignete Persönlichkeit zu seiner Vertretung zu bestellen und den Eigentümer hiervon in Kenntnis zu setzen. Der Verwalter übernimmt die volle Verantwortung für die Handlungen seines Vertreters. Gegebenenfalls durch die Vertretung entstehende Kosten trägt der Verwalter. § 7 Vergütung des Verwalters Der Verwalter erhält für jedes Sonder-/ Teileigentum ein Verwaltungsentgelt von 16,80 EUR monatlich zzgl. der jeweils gesetzlich gültigen Mehrwertsteuer. Anzahl der Einheiten 1 x 16,80 EUR = 16,80 EUR zzgl. gesetzl. MwSt, derzeit 19 % = 3,19 EUR Gesamt = 19,99 EUR Die dem Verwalter zustehenden Beträge darf der Verwalter monatlich im Voraus dem Eigentümerkonto entnehmen. Weist das SE-Konto nicht genügend Deckung auf, verpflichtet sich der Auftraggeber zur Zahlung der Vergütung innerhalb einer Woche nach Zugang der Rechnung.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311 —</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4/5 § 8 Sonderleistungen Für Arbeiten des Verwalters außerhalb dieses Vertragsumfanges ist dieser berechtigt, die üblichen Stundensätze (derzeit 60,00 EUR für Verwaltungstätigkeiten, kaufmännische oder technische Tätigkeiten) in Rechnung zu stellen. Zu diesen Sonderleistungen zählen zum Beispiel - gesonderte Jahresabrechnung - NK- oder BK-Abrechnungen mit Mietern - Wirtschaftlichkeitsberechnungen (auch bei preisgebundenem Wohnraum) - Vorbereitung und Durchführung von Mieterhöhungen im Rahmen der Vergleichsmiete, der Kostenmiete und in sonstigen Fällen, in denen sich der Mieterhöhungsbetrag nicht unmittelbar aus dem Mietvertrag ergibt - Ausführung besonderer behördlicher Auflagen - Verkehrswertermittlung des Verwaltungsobjektes - Betreuung, Überwachung und Finanzierung von Umbauten, Ausbauten, Modernisierungen und größeren Instandhaltungs- und Instandsetzungsmaßnahmen - Bauabnahmen § 9 Beauftragung eines Maklers Im Falle der Vermietung ist der Verwalter berechtigt, einen Makler und deren Tätigkeit im Auftrag und auf Rechnung des Eigentümers, zu beauftragen. Die Kosten hierfür belaufen sich auf 450,00 € brutto pro Vermietung. § 10 Beauftragung eines Rechtsanwaltes B ei Mietrückständen von mehr als 2 Monatsmieten ist der Verwalter nach vorheriger Zustimmung durch den Eigentümer berechtigt, die Angelegenheit einem Rechtsanwalt oder einem Inkassobüro zur Eintreibung der Forderungen und/oder Einreichung einer Räumungsklage zu übergeben. Die entstehenden Kosten trägt der Eigentümer. Diese werden dem SE-Konto entnommen. § 11 Vertragsänderungen und Vollmacht Änderungen dieses Vertrages sind nur wirksam, wenn sie schriftlich abgefasst und von beiden Vertragsteilen unterschrieben sind. Sollten einzelne Bestimmungen dieses Vertrages unwirksam sein, so wird dadurch die Wirksamkeit des Vertrages im Übrigen nicht berührt. Der Eigentümer hat dem Verwalter eine Vollmachtsurkunde auszustellen über die in diesem Vertrag enthaltenden Bevollmächtigungen. § 12 Haftung des Verwalters Der Verwalter hat seine Aufgaben mit der Sorgfalt und nach den Grundsätzen eines erfahrenen und fachkundigen Verwalters zu erfüllen und alle mit seiner Tätigkeit zusammenhängenden Rechtsvorschriften zu beachten. Für Schäden aus der Verletzung des Lebens, des Körpers oder der Gesundheit, die auf fahrlässige Pflichtverletzung des kaufmännischen Verwalters oder einer vorsätzlichen oder fahrlässigen Pflichtverletzung eines gesetzlichen Vertreters oder Erfüllungsgeholfen beruhen, haftet der Verwalter unbeschränkt.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312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5/5 Der Verwalter hat eine angemessene Vermögensschadenhaftpflichtversicherung abzuschließen und zu unterhalten. Der Verwalter haftet nur für Schäden, die durch Vorsatz oder grobe Fahrlässigkeit verursacht wurden. Schadensersatzansprüche gegen den Verwalter und hiermit konkurrierende Ansprüche verjähren 12 Monate nach Kenntnis der anspruchsbegründeten Tatsachen, spätestens 12 Monate nach Beendigung der Verwaltervertrages. § 13 Gerichtsstand Als Gerichtsstand ist Magdeburg vereinbart. Ort, Datum Ort, Datum Käufer/ Sonder-/Teileigentümer Verwalter {{VERWALTER_NAME}}</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313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VERWALTERVOLLMACHT für Sondereigentum/Teileigentum Der Eigentümer/ Die Ei gentümer: Eigenümer Straße Hausnr PLZ Ort - Eigentümer vorgenannt bevollmächtigt den bestellten Verwalter: {{VERWALTER_NAME}}, {{VERWALTER_STRASSE}}, 39104 Magdeburg vertreten durch die Herren {{VERWALTER_GESCHAEFTSFUEHRER}} - Verwalter vorgenannt mit der Verwaltung des Sondereigentums/Teileigentum {{WEG_BEZEICHNUNG}} in {{PROJEKT_PLZ_STADT}}, WE___ sowie den SP/TG/GARAGE Nr.___ nach den Maßgaben des am ................................... abgeschlossenen Verwaltervertrages. Über die gesetzlichen Befugnisse hinaus ist der Verwalter gegenüber Dritten berechtigt: • Der Verwalter wird bevollmächtigt, im Namen und für Rechnung des Eigentümers alle Rechtsgeschäfte und Rechtshandlungen vorzunehmen, die die Verwaltung der Wohnung/des Teileigentums und die Erfüllung der in Punkt III. aufgeführten Aufgaben des Verwalters betreffen. • Der Verwalter wird weiter bevollmächtigt, den Eigentümer in allen das Verwaltungsobjekt betreffenden Angelegenheiten gerichtlich zu vertreten. Er ist berechtigt, dabei stets einen Rechtsanwalt zu beauftragen und zu bevollmächtigen. • Der Verwalter kann im Einzelfall Untervollmacht erteilen. Eine Übertragung der gesamten Verwaltungstätigkeit auf Dritte ist nicht zulässig. • Der Verwalter ist berechtigt, Konten auf den Namen des Eigentümers oder ein treuhänderisches Sammelkonto auf Namen des Verwalters einzurichten bzw. zu führen. Die Kontenauflösung oder Kreditaufnahme bedarf des vorherigen Beschlusses durch die Eigentümer. • Der Verwalter wird vom Selbstkontrahierungsverbot des § 181 BGB befreit. Er darf daher als Vertreter des Eigentümers auch Rechtsgeschäfte mit sich selbst oder mit sich als Vertreter eines anderen abschließen. • Auf Grundlage des Vertrages Miet-, Wartungs-, Lieferungs-, Entsorgungs-, Dienstleistungs- und Werkverträge sowie Verträge über gesetzlich vorgeschriebene Prüfungen zu ändern, zu beenden oder abzuschließen, • Schlüssel und Schließzylinder aus der gesicherten Schließanlage für einzelne Wohnungseigentümer nachzubestellen. Der Verwalter kann von dem Eigentümer die Ausstellung einer gesonderten Vollmachtsurkunde verlangen, aus der sich der Umfang seiner Vertretungsmacht ergibt. Erlischt die Vertretungsmacht, so ist die Vollmachtsurkunde dem Eigentümer unverzüglich zurückzugeben; ein Zurückbehaltungsrecht an der Urkunde steht dem Verwalter nicht zu. ...................................................., den ................................ ………………………………………….. ……………………………………………</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314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315 Entwurf Vorlage WEG-Verwaltung</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315 —</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1/6 VERWALTERVERTRAG für Wohnungseigentumsanlagen Z wischen der Wohnungseigentümergemeinschaft - nachstehend WEG genannt und {{VERWALTER_NAME}} Anschrift: {{VERWALTER_STRASSE}} in 39104 Magdeburg, vertreten durch die Geschäftsführer, {{VERWALTER_GESCHAEFTSFUEHRER}} - nachstehend Verwalter genannt wird folgender Verwaltervertrag geschlossen: § 1 Vorbemerkung und Vertragsgegenstand Die {{VERWALTER_NAME}} ist in der Eigentümerversammlung vom zum Verwalter der Eigentümergemeinschaft bestimmt worden. Gegenstand des Vertrages ist die Verwaltung des gemeinschaftlichen Eigentums der Wohnanlage urbanunits - The Central, bestehend aus {{ANZAHL_WE}} Wohneinheiten sowie 13 Stellplätzen. § 2 Beginn, Laufzeit und Beendigung des Verwaltervertrages Der Verwaltervertrag beginnt am und endet mit Ablauf des . max. 3 Jahre Vor Ablauf der Vertragslaufzeit kann der Vertrag von beiden Seiten nur aus wichtigem Grund gekündigt werden. Die fristlose Kündigung des Verwaltervertrages durch den Verwalter kann entweder in der Eigentümerversammlung oder gegenüber dem jeweiligen Vorsitzenden des Verwaltungsbeirats oder im Falle dessen Abwesenheit gegenüber dessen Stellvertreter erklärt werden. Der Verwaltervertrag steht unter der auflösenden Bedingung einer wirksamen vorzeitigen Beendigung des Verwalteramts, wie z.B. durch wirksame außerordentliche Abberufung des Verwalters oder wirksame Niederlegung des Verwalteramts durch den Verwalter aus wichtigem Grund. Endet also vor Ablauf der Bestellzeit das Verwalteramt, endet damit zugleich und zeitgleich auch der Verwaltervertrag. § 3 Der Verwalter ist berechtigt, verpflichtet und bevollmächtigt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316 —</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2/6 - jährlich einmal eine ordentliche Eigentümerversammlung einzuberufen und durchzuführen. Die Einladung erfolgt lt. WEG § 24 Abs. 4 in Textform. Die Unterschrift des Verwalters genügt mit Hilfe automatischer Einrichtungen (Fotokopie, EDV-Ausdruck), soweit die Teilungserklärung keine andere Form vorschreibt. Ein Wohnungseigentümer kann sich entsprechend der Gemeinschaftsordnung oder den gesetzlichen Vorschriften auf Grund schriftlicher Vollmacht vertreten lassen. - der ordentlichen Eigentümerversammlung den Wirtschaftsplan für das laufende Jahr und die Abrechnung für das vergangene Jahr zur Beschlussfassung vorzulegen. Das Wirtschaftsjahr ist identisch mit dem Kalenderjahr, es sei denn, die Eigentümergemeinschaft hat einen anderen Abrechnungszeitraum beschlossen. - die Beschlüsse der Versammlung zu protokollieren und jedem Eigentümer eine Protokollabschrift zu übersenden. Die Gewährung des Rechts auf Einsichtnahme bleibt davon unberührt. - die Beschlusssammlung zu führen. - Beschlussprotokolle sorgfältig aufzubewahren. Hinsichtlich der Aufbewahrung der übrigen Unterlagen gelten die Aufbewahrungspflichten des Handels- und Steuerrechts. Nach Ablauf der Aufbewahrungsfristen können die übrigen Unterlagen der laufenden Verwaltung vernichtet werden. - für die Einhaltung der Hausordnung zu sorgen und dazu ggf. Hilfskräfte einzusetzen. - für die ordnungsgemäße laufende Instandhaltung und Instandsetzung zu sorgen und in dringenden Fällen sonstige zur Erhaltung des gemeinschaftlichen Eigentums erforderliche Maßnahmen zu treffen. Darüberhinausgehende größere Instandhaltungsmaßnahmen bedürfen eines Beschlusses der Wohnungseigentümer, es sei denn, Gefahr ist im Verzug. - gemeinschaftliche Gelder von seinem Vermögen gesondert zu halten und für sie Verwaltungskonten in Form offener Fremdkonten zu führen. Der Verwalter kann ein laufendes Bewirtschaftungskonto und ein Rücklagenkonto einrichten. Kontoeröffnungsund Kontoführungsgebühren werden von der Gemeinschaft getragen. - die angesammelte Instandhaltungsrücklage getrennt vom laufenden Bewirtschaftungskonto verzinslich anzulegen. Diese Instandhaltungsrücklage kann vom Verwalter zur Abdeckung kurzfristiger Liquiditätsengpässe auf dem Bewirtschaftungskonto in Anspruch genommen werden. - Die Anlage von Geldern bedarf keines Eigentümerbeschlusses. - Lasten- und Kostenbeiträge (Hausgeld) sowie sonstige Zahlungen anzufordern und in Empfang zu nehmen. - alle Zahlungen und Leistungen zu bewirken, die mit der Verwaltung des gemeinschaftlichen Eigentums zusammenhängen. - die üblichen Hausversicherungen gegen Feuer-, Wasser-, Sturm- und Haftpflichtschäden abzuschließen. Die Laufzeit der Verträge soll ein Jahr nicht überschreiten. - die Dienste von Hilfskräften (Hausmeister, Putzfrauen, Architekten, Sachverständige, Rechtsanwälte, Heizkostenabrechnungsfirmen, Dienstleister für das Housekeeping, Überwachungsservice, Handwerker, u.a.) im erforderlichen Umfang zur Erfüllung der</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317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3/6 Verwaltertätigkeit in eigenem Namen in Anspruch zu nehmen. Der Verwalter ist des Weiteren berechtigt und verpflichtet, mit Wirkung für und gegen die Eigentümergemeinschaft im Rahmen der ordnungsgemäßen Verwaltung nach pflichtgemäßem Ermessen sonstige Verträge abzuschließen oder zu kündigen und sonstige Rechtsgeschäfte vorzunehmen. Dies gilt auch und insbesondere für die Anstellung eines Hausmeisters bzw. die Beauftragung einer Hausmeisterfirma einschließlich der Übertragung der Verkehrssicherungspflichten (u.a. Reinigungs- , Räumungs- und Streupflicht). Hierbei ist der Verwalter vom § 181 BGB befreit. - für die ordnungsgemäße Bewirtschaftung erforderliche Gebrauchsgegenstände sowie Versorgungsgüter (z.B. Heizmaterial) zu beschaffen - alle sonst im Rahmen der Verwaltungsaufgaben erforderlichen Verträge (z.B. Heizungswartung usw.) abzuschließen. - die Eigentümergemeinschaft im Außenverhältnis und gegenüber einzelnen Eigentümern gerichtlich und außergerichtlich zu vertreten sowie Ansprüche der Gemeinschaft gegen Dritte oder gegenüber einzelnen Wohnungseigentümern auch in eigenem Namen auf Kosten der Eigentümergemeinschaft gerichtlich geltend zu machen. Der Verwalter ist berechtigt und beauftragt, Hausgeldrückstände auch durch Rechtsanwälte einzutreiben und Klage gegen einzelne Wohnungseigentümer vor Gericht zu erheben oder erheben zu lassen. Soweit im WEG und in diesem Vertrag nichts anderes bestimmt ist, gelten für das Verhältnis zwischen Eigentümergemeinschaft und dem Verwalter ergänzend die Vorschriften des § 675 BGB über den entgeltlichen Geschäftsbesorgungsvertrag. § 4 Vergütung der Grundleistungen Die monatliche Vergütung des Verwalters für Grundleistungen beträgt 16,80 € je Wohnung, sowie 5,00 € je Stellplatz zzgl. der gesetzlichen Mehrwertsteuer. Anzahl der Einheiten 104 x 16,80 EUR = 1.747,20 EUR zzgl. gesetzl. MwSt, derzeit 19 % = 331,97 EUR Gesamt = 2.079,17 EUR Anzahl der Stellplätze 13 x 5,00 EUR = 65,00 EUR zzgl. gesetzl. MwSt, derzeit 19 % = 12,35 EUR Gesamt = 77,35 EUR Der Verwalter ist berechtigt, diese monatliche Gesamtvergütung am 3. eines jeden Monats vom Hausgeldkonto der WEG abzubuchen und auf sein Konto zu überweisen. Im Innenverhältnis wird diese Gesamtvergütung auf die einzelnen Eigentümer nach dem in der Gemeinschaftsordnung vorgesehenen Verteilungsschlüssel verteilt. Mit dieser monatlichen Gesamtvergütung sind die gesamte reguläre Verwaltertätigkeit des Verwalters laut § 3 dieses Vertrages und dessen Auslagen für Telefon/Telefax abgegolten. Für Porto erhält der Verwalter eine jährliche Pauschale von 150,00 € zzgl. gesetzl. MwSt. von derzeit 19%. § 5 Vergütung für Besondere Leistungen Die Besonderen Leistungen werden wie folgt vergütet: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318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4/6 a) Die besonderen Leistungen des Verwalters werden nach Aufwand - soweit vereinbart abgerechnet; hierfür beträgt der Stundensatz für Inhaber, Geschäftsführer oder Prokuristen 80,00 EUR zzgl. Umsatzsteuer (z.Zt. 19%) = 95,20 EUR brutto für Sachbearbeiter 50,00 EUR zzgl. Umsatzsteuer (z.Zt. 19%) = 59,50 EUR brutto für Sekretariat/Schreibkräfte 30,00 EUR zzgl. Umsatzsteuer (z.Zt. 19%) = 35,70 EUR brutto für Auszubildende 20,00 EUR zzgl. Umsatzsteuer (z.Zt. 19%) = 23,80 EUR brutto Dabei kann jede vollendete Viertelstunde entsprechend anteilig abgerechnet werden. Es ist ein Zeitnachweis in Form einer Tabelle zu führen. Diese ist monatlich dem (soweit vorhanden) Verwaltungsbeirat zur Abzeichnung vorzulegen. Die Prüfung und Gegenzeichnung durch den Beirat hat binnen 14 Tagen zu erfolgen. Ist kein Beirat vorhanden, hat der Verwalter eine Rechnung zu erstellen und hinterlegen und diese in der nächsten Eigentümerversammlung zu erläutern. b) Vergütungsschuldner, Fälligkeit Die Vergütung und Auslagen für Besondere Leistungen erhält der Verwalter von der Wohnungseigentümergemeinschaft. Die Vergütung ist mit Rechnungsstellung zur Zahlung fällig. c) Auslagenersatz Die dem Verwalter im Zusammenhang mit der Erbringung der Besonderen Leistungen zustehenden Auslagen wie Fahrtkosten, Porti, Telefon, Telefax werden gegen Nachweis erstattet. Bis 50 Kopien werden pro Vorgang 0,50 € je Stück, darüber hinaus 0,30 € je Stück berechnet. Der Zeitaufwand für die Fertigung der Kopien ist damit auch abgegolten. d) Das Zusatzhonorar gilt auch ohne besondere Vereinbarung für jeden Auftragsfall als geschuldet, der nicht vom gesetzlichen bzw. vereinbarten Grundleistungskatalog gedeckt ist. Der Verwalter ist berechtigt, diese Sondervergütungen und gesonderten Aufwendungen nach Rechnungsstellung vom Hausgeldkonto der WEG abzubuchen und auf sein Konto zu überweisen. Falls sich nachträglich durch behördliche Auflagen oder durch Anwendung neuer Rechtsvorschriften (Gesetze oder Rechtsverordnungen) der Aufgabenbereich des Verwalters nicht nur unwesentlich erweitern sollte, hat der Verwalter einen Anspruch auf angemessene Anpassung der Vergütung. § 6 Haftung und Verjährung Schadensersatzansprüche gegen den Verwalter verjähren grundsätzlich nach der gesetzlichen Regelung. Gemäß §§ 195, 199 BGB verjähren die Ansprüche nach 3 Jahren beginnend mit dem Schluss des Jahres, in dem der Anspruch entstanden ist und in welchem die Wohnungseigentümer bzw. die WEG von dem Anspruch begründeten Umständen und der Person des Schuldners Kenntnis erlangen oder aufgrund grober Fahrlässigkeit keine Kenntnis erlangt haben. Unabhängig von der Kenntnis oder der grob fahrlässigen Unkenntnis verjähren die Schadensersatzansprüche gegen den Verwalter jedoch spätestens drei Jahre nach Beendigung der Amts- und Vertragslaufzeit, es sei denn, der Schadensersatzanspruch beruht auf einer grob fahrlässigen oder vorsätzlichen Pflichtverletzung oder es sind Schadensersatzansprüche aus der Verletzung des Lebens, des Körpers, der Gesundheit oder der Kardinalpflichten des Verwalters betroffen.</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319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5/6 Die von der Kenntnis unabhängige Haftung endet aber fünf Jahre nach Entstehen des Anspruchs. Der Verwalter hat eine ausreichende Vermögensschadenhaftpflichtversicherung abzuschließen und zu unterhalten. § 7 Beendigung der Verwaltertätigkeit Mit Ablauf der Amts- und Vertragslaufzeit hat der Verwalter umgehend die Rechnungslegung i.S.v. § 28 Abs. 4 WEG vorzunehmen. ämtliche Verwaltungsunterlagen und Belege sind unverzüglich an den neuen Verwalter oder, sofern ein solcher noch nicht existiert, an den Vorsitzenden des Verwaltungsbeirats herauszugeben. Das Recht zur Geltendmachung eines Zurückbehaltungsrechts besteht hieran nicht. Eine erhaltene Vollmacht ist unverzüglich zurückzugeben. Ein Zurückbehaltungsrecht an der Urkunde steht dem Verwalter nicht zu. Nimmt die Wohnungseigentümergemeinschaft die Grundleistungen des Verwalters nicht in Anspruch, obgleich der Vertrag nicht wirksam beendet ist, schuldet sie dennoch die Zahlung des vereinbarten Pauschalentgeltes. Das gilt insbesondere, wenn eine ausgesprochene Vertragskündigung nicht wirksam ist. Der Verwalter wird sich jedoch ersparte Aufwendungen anrechnen lassen müssen. Dabei gehen die Parteien davon aus, dass er für diese Fälle 80 % der Vergütung für Grundleistungen zzgl. Umsatzsteuer erhält. Die Wohnungseigentümergemeinschaft bleibt jedoch der Nachweis vorbehalten, dass tatsächlich eine höhere Ersparnis eingetreten ist, dem Verwalter für eine tatsächlich niedrigere Ersparnis. § 8 Vollmacht des Verwalters Der Verwalter kann von der Wohnungseigentümergemeinschaft die Ausstellung einer notariell beglaubigten Vollmachtsurkunde verlangen, aus der sich der Umfang seiner Vertretungsmacht ergibt; der Vorsitzende des Verwaltungsbeirats oder ein beauftragter Miteigentümer wird ermächtigt, die Vollmachtsurkunde namens der Wohnungseigentümergemeinschaft zu unterschreiben. Erlischt die Vertretungsmacht, so ist die Vollmachtsurkunde der Wohnungseigentümergemeinschaft zu Händen des neuen Verwalters oder- soweit noch nicht stellt- zu Händen des Verwaltungsbeiratsvorsitzenden unverzüglich zurückzugeben, ein Zurückbehaltungsrecht an der Urkunde steht dem Verwalter nicht zu. Der Verwalter ist bevollmächtigt, im Namen und auf Rechnung der Wohnungseigentümergemeinschaft alle Rechtsgeschäfte und Rechtshandlungen vorzunehmen, die die Verwaltung des gemeinschaftlichen Eigentums und die Erfüllung der in § 3 aufgeführten Aufgaben und Befugnisse des Verwalters betreffen. Der Verwalter wird vom Selbstkontrahierungsverbot des § 181 BGB befreit. Er darf daher als Verwalter der WEG auch Rechtsgeschäfte mit sich selbst oder mit sich als Vertreter eines anderen abschließen. § 9 Schlussbestimmungen Soweit in diesem Vertrag von Wohnungseigentümer die Rede ist, gilt dies entsprechend auch für Teileigentümer. Änderungen oder Ergänzungen dieses Vertrages sind nur wirksam, wenn ein entsprechender bestandskräftiger Mehrheitsbeschluss der Wohnungseigentümer vorliegt und der Verwalter mit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320 —</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6/6 diesen Änderungen oder Ergänzungen einverstanden ist. Die Auslösung von Kosten durch Beauftragung von Dritten bedarf der vorherigen Beschlussfassung. Diese ist entbehrlich, wenn die für die Gemeinschaft im Einzelfall 2.000,00 € nicht übersteigen. Darüber hinaus dürfen bei Bestehen eines Verwaltungsbeirats nur mit dessen Genehmigung Aufträge erteilt werden. Bei Aufwand höher als 5.000,00 € bedarf es in der Regel eines Versammlungsbeschlusses. In jedem Fall hat der Verwalter den Verwaltungsbeirat- soweit ein solcher bestellt ist- möglichst vor Kostenauslösung, bei Gefahr in Verzug ggf. unverzüglich danach zu informieren. Bei Weiterveräußerung sind dem Verwalter die Stammdaten des Erwerbers (Vor- und Nachnamen, Anschrift und den Tag der Eigentumsumschreibung im Grundbuch) unverzüglich mitzuteilen. Adressänderungen und/ oder Änderung des für die Einziehung von Beiträgen vom Wohnungseigentümer bestimmten Bankkontos sind dem Verwalter unverzüglich mitzuteilen. Sollte eine Bestimmung dieses Vertrages ganz oder teilweise unwirksam sein oder der Eigentümerbeschluss über den Abschluss dieses Verwaltervertrages hinsichtlich einzelner Bestimmungen für ungültig erklärt werden, bleibt der Vertrag in den übrigen Punkten wirksam. An diese Stelle der unwirksamen oder für ungültig erklärten Klausel tritt die gesetzliche Regelung. § 10 Gerichtsstand Erfüllungsort und Gerichtsstand ist, soweit gesetzlich zulässig, Magdeburg. Magdeburg, den................................ Magdeburg, den…………………….. Verwalter Verwaltungsbeirat B üschel Immobilien GmbH</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321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540000"/>
            <a:ext cx="6480000" cy="9612000"/>
          </a:xfrm>
          <a:prstGeom prst="rect">
            <a:avLst/>
          </a:prstGeom>
          <a:noFill/>
        </p:spPr>
        <p:txBody>
          <a:bodyPr wrap="square"/>
          <a:lstStyle/>
          <a:p>
            <a:r>
              <a:rPr sz="900">
                <a:latin typeface="Arial"/>
              </a:rPr>
              <a:t>© Dachverband Deutscher Immobilienverwalter e. V. 11/2015 VERWALTERVOLLMACHT für die Verwaltung des gemeinschaftlichen Eigentums einer Eigentumsanlage i .S.d. WEG Die Eigentümergemeinschaft: WEG {{WEG_BEZEICHNUNG}} in {{PROJEKT_PLZ_STADT}} bevollmächtigt durch Beschluss vom __________________ den bestellten Verwalter: {{VERWALTER_NAME}} vertreten durch die Geschäftsführer {{VERWALTER_GESCHAEFTSFUEHRER}} mit der Verwaltung des Gemeinschaftseigentums nach den Maßgaben - der Bestimmungen des Wohnungseigentumsgesetzes, - der o.g. Teilungserklärung / Gemeinschaftsordnung sowie - des am _________________ abgeschlossenen Verwaltervertrages. Über die gesetzlichen Befugnisse hinaus ist der Verwalter gegenüber Dritten berechtigt: • auch ohne vorherige Beschlussfassung Miet-, Kauf-, Versicherungs-, Wartungs-, Lieferungs-, Entsorgungs-, Dienstleistungs- und Werkverträge sowie Verträge über gesetzlich vorgeschriebene Prüfungen zu ändern, zu beenden oder abzuschließen, • Klagen wegen Zahlung ab einem Zahlungsrückstand von mehr als zwei Hausgeldzahlungen auch ohne vorherige Beschlussfassung im Namen und auf Rechnung der o.g. WEG zu erheben sowie Rechtsanwälte zu beauftragen, • Schlüssel und Schließzylinder aus der gesicherten Schließanlage für einzelne Wohnungseigentümer nachzubestellen. Der Verwalter ist berechtigt, Gemeinschaftskonten auf den Namen der o.g. WEG einzurichten bzw. zu führen. Insbesondere ist er berechtigt, die Instandhaltungsrückstellung zinsgünstig anzulegen. Die Kontenauflösung oder Kreditaufnahme bedarf des vorherigen Beschlusses durch die Eigentümer. Der Verwalter wird vom Selbstkontrahierungsverbot des § 181 BGB befreit. Er darf daher als Vertreter der WEG auch Rechtsgeschäfte mit sich selbst oder mit sich als Vertreter eines anderen abschließen. Im Einzelfall darf der Verwalter Untervollmachten erteilen. Die Vollmacht ist bei Erlöschen der Vertretungsmacht dem Vorsitzenden des Verwaltungsbeirates oder einem neu bestellten Verwalter auszuhändigen. Zurückbehaltungsrechte bestehen an dieser Urkunde nicht. Magdeburg, den ..................................... ……………............................................................................................ Name/Unterschrift {{ENTWICKLER_NAME}} die durch Beschluss vom ______________ zum Abschluss des Verwaltervertrages ermächtigt ist.</a:t>
            </a:r>
          </a:p>
        </p:txBody>
      </p:sp>
      <p:sp>
        <p:nvSpPr>
          <p:cNvPr id="3" name="TextBox 2"/>
          <p:cNvSpPr txBox="1"/>
          <p:nvPr/>
        </p:nvSpPr>
        <p:spPr>
          <a:xfrm>
            <a:off x="540000" y="10260000"/>
            <a:ext cx="6480000" cy="288000"/>
          </a:xfrm>
          <a:prstGeom prst="rect">
            <a:avLst/>
          </a:prstGeom>
          <a:noFill/>
        </p:spPr>
        <p:txBody>
          <a:bodyPr wrap="none">
            <a:spAutoFit/>
          </a:bodyPr>
          <a:lstStyle/>
          <a:p>
            <a:pPr algn="ctr"/>
            <a:r>
              <a:rPr sz="700">
                <a:solidFill>
                  <a:srgbClr val="808080"/>
                </a:solidFill>
                <a:latin typeface="Arial"/>
              </a:rPr>
              <a:t>— DQN-Original S. 322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